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1" r:id="rId6"/>
    <p:sldId id="262" r:id="rId7"/>
    <p:sldId id="263" r:id="rId8"/>
    <p:sldId id="277" r:id="rId9"/>
    <p:sldId id="276" r:id="rId10"/>
    <p:sldId id="266" r:id="rId11"/>
    <p:sldId id="267" r:id="rId12"/>
    <p:sldId id="268" r:id="rId13"/>
    <p:sldId id="275" r:id="rId14"/>
    <p:sldId id="269" r:id="rId15"/>
    <p:sldId id="271" r:id="rId16"/>
    <p:sldId id="273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2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8"/>
        <p:guide pos="21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9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jpeg"/><Relationship Id="rId10" Type="http://schemas.openxmlformats.org/officeDocument/2006/relationships/image" Target="../media/image10.png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喵喵记账小程序</a:t>
            </a:r>
          </a:p>
        </p:txBody>
      </p:sp>
      <p:sp>
        <p:nvSpPr>
          <p:cNvPr id="12" name="TextBox 4"/>
          <p:cNvSpPr txBox="1"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800" b="0">
                <a:solidFill>
                  <a:srgbClr val="63B3ED"/>
                </a:solidFill>
                <a:latin typeface="微软雅黑" panose="020B0503020204020204" charset="-122"/>
              </a:defRPr>
            </a:pPr>
            <a:r>
              <a:t>Alpha 冲刺答辩</a:t>
            </a:r>
          </a:p>
        </p:txBody>
      </p:sp>
      <p:sp>
        <p:nvSpPr>
          <p:cNvPr id="13" name="Rectangle 5"/>
          <p:cNvSpPr/>
          <p:nvPr/>
        </p:nvSpPr>
        <p:spPr>
          <a:xfrm>
            <a:off x="3657600" y="3200400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TextBox 6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团队：Code Nova  |  成员：李佳琪、程天润、莫仕明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16129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74395"/>
            <a:ext cx="3841115" cy="170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11555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项目简介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44930"/>
            <a:ext cx="3531235" cy="923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/>
              <a:t>项目定位：</a:t>
            </a:r>
            <a:r>
              <a:rPr lang="zh-CN" altLang="en-US"/>
              <a:t>面向普通用户的</a:t>
            </a:r>
            <a:r>
              <a:rPr lang="en-US" altLang="zh-CN"/>
              <a:t> AI </a:t>
            </a:r>
            <a:r>
              <a:rPr lang="zh-CN" altLang="en-US"/>
              <a:t>语音记账小程序</a:t>
            </a:r>
            <a:endParaRPr lang="zh-CN" altLang="en-US"/>
          </a:p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endParaRPr lang="zh-CN" altLang="en-US"/>
          </a:p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 altLang="en-US"/>
              <a:t>项目目标：降低记账门槛，帮助用户轻松记录和分析消费</a:t>
            </a:r>
            <a:endParaRPr lang="zh-CN" altLang="en-US"/>
          </a:p>
        </p:txBody>
      </p:sp>
      <p:sp>
        <p:nvSpPr>
          <p:cNvPr id="55" name="TextBox 19"/>
          <p:cNvSpPr txBox="1"/>
          <p:nvPr/>
        </p:nvSpPr>
        <p:spPr>
          <a:xfrm>
            <a:off x="365760" y="2712720"/>
            <a:ext cx="111633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3B82F6"/>
                </a:solidFill>
              </a:rPr>
              <a:t>核心功能</a:t>
            </a:r>
            <a:endParaRPr>
              <a:solidFill>
                <a:srgbClr val="3B82F6"/>
              </a:solidFill>
            </a:endParaRPr>
          </a:p>
        </p:txBody>
      </p:sp>
      <p:sp>
        <p:nvSpPr>
          <p:cNvPr id="56" name="Rounded Rectangle 20"/>
          <p:cNvSpPr/>
          <p:nvPr/>
        </p:nvSpPr>
        <p:spPr>
          <a:xfrm>
            <a:off x="365760" y="3124200"/>
            <a:ext cx="1325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7" name="TextBox 21"/>
          <p:cNvSpPr txBox="1"/>
          <p:nvPr/>
        </p:nvSpPr>
        <p:spPr>
          <a:xfrm>
            <a:off x="538480" y="32156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✏️</a:t>
            </a:r>
          </a:p>
        </p:txBody>
      </p:sp>
      <p:sp>
        <p:nvSpPr>
          <p:cNvPr id="58" name="TextBox 22"/>
          <p:cNvSpPr txBox="1"/>
          <p:nvPr/>
        </p:nvSpPr>
        <p:spPr>
          <a:xfrm>
            <a:off x="411480" y="36271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文字记账</a:t>
            </a:r>
          </a:p>
        </p:txBody>
      </p:sp>
      <p:sp>
        <p:nvSpPr>
          <p:cNvPr id="59" name="TextBox 23"/>
          <p:cNvSpPr txBox="1"/>
          <p:nvPr/>
        </p:nvSpPr>
        <p:spPr>
          <a:xfrm>
            <a:off x="411480" y="391972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自然语言输入</a:t>
            </a:r>
          </a:p>
        </p:txBody>
      </p:sp>
      <p:sp>
        <p:nvSpPr>
          <p:cNvPr id="60" name="Rounded Rectangle 24"/>
          <p:cNvSpPr/>
          <p:nvPr/>
        </p:nvSpPr>
        <p:spPr>
          <a:xfrm>
            <a:off x="1783080" y="3124200"/>
            <a:ext cx="1325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25"/>
          <p:cNvSpPr txBox="1"/>
          <p:nvPr/>
        </p:nvSpPr>
        <p:spPr>
          <a:xfrm>
            <a:off x="1772920" y="32156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🎤</a:t>
            </a:r>
          </a:p>
        </p:txBody>
      </p:sp>
      <p:sp>
        <p:nvSpPr>
          <p:cNvPr id="62" name="TextBox 26"/>
          <p:cNvSpPr txBox="1"/>
          <p:nvPr/>
        </p:nvSpPr>
        <p:spPr>
          <a:xfrm>
            <a:off x="1828800" y="36271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语音记账</a:t>
            </a:r>
          </a:p>
        </p:txBody>
      </p:sp>
      <p:sp>
        <p:nvSpPr>
          <p:cNvPr id="63" name="TextBox 27"/>
          <p:cNvSpPr txBox="1"/>
          <p:nvPr/>
        </p:nvSpPr>
        <p:spPr>
          <a:xfrm>
            <a:off x="1828800" y="391972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一键录音记录</a:t>
            </a:r>
          </a:p>
        </p:txBody>
      </p:sp>
      <p:sp>
        <p:nvSpPr>
          <p:cNvPr id="64" name="Rounded Rectangle 28"/>
          <p:cNvSpPr/>
          <p:nvPr/>
        </p:nvSpPr>
        <p:spPr>
          <a:xfrm>
            <a:off x="3200400" y="3124200"/>
            <a:ext cx="1325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29"/>
          <p:cNvSpPr txBox="1"/>
          <p:nvPr/>
        </p:nvSpPr>
        <p:spPr>
          <a:xfrm>
            <a:off x="3139440" y="32156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66" name="TextBox 30"/>
          <p:cNvSpPr txBox="1"/>
          <p:nvPr/>
        </p:nvSpPr>
        <p:spPr>
          <a:xfrm>
            <a:off x="3246120" y="36271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账单管理</a:t>
            </a:r>
          </a:p>
        </p:txBody>
      </p:sp>
      <p:sp>
        <p:nvSpPr>
          <p:cNvPr id="67" name="TextBox 31"/>
          <p:cNvSpPr txBox="1"/>
          <p:nvPr/>
        </p:nvSpPr>
        <p:spPr>
          <a:xfrm>
            <a:off x="3246120" y="391972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增删改查完整</a:t>
            </a:r>
          </a:p>
        </p:txBody>
      </p:sp>
      <p:sp>
        <p:nvSpPr>
          <p:cNvPr id="68" name="Rounded Rectangle 32"/>
          <p:cNvSpPr/>
          <p:nvPr/>
        </p:nvSpPr>
        <p:spPr>
          <a:xfrm>
            <a:off x="4617720" y="3124200"/>
            <a:ext cx="1325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9" name="TextBox 33"/>
          <p:cNvSpPr txBox="1"/>
          <p:nvPr/>
        </p:nvSpPr>
        <p:spPr>
          <a:xfrm>
            <a:off x="4551680" y="32156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70" name="TextBox 34"/>
          <p:cNvSpPr txBox="1"/>
          <p:nvPr/>
        </p:nvSpPr>
        <p:spPr>
          <a:xfrm>
            <a:off x="4663440" y="36271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消费统计</a:t>
            </a:r>
          </a:p>
        </p:txBody>
      </p:sp>
      <p:sp>
        <p:nvSpPr>
          <p:cNvPr id="71" name="TextBox 35"/>
          <p:cNvSpPr txBox="1"/>
          <p:nvPr/>
        </p:nvSpPr>
        <p:spPr>
          <a:xfrm>
            <a:off x="4663440" y="391972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分类数据可视化</a:t>
            </a:r>
          </a:p>
        </p:txBody>
      </p:sp>
      <p:sp>
        <p:nvSpPr>
          <p:cNvPr id="72" name="Rounded Rectangle 36"/>
          <p:cNvSpPr/>
          <p:nvPr/>
        </p:nvSpPr>
        <p:spPr>
          <a:xfrm>
            <a:off x="6035040" y="3124200"/>
            <a:ext cx="1325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3" name="TextBox 37"/>
          <p:cNvSpPr txBox="1"/>
          <p:nvPr/>
        </p:nvSpPr>
        <p:spPr>
          <a:xfrm>
            <a:off x="5963920" y="32156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🤖</a:t>
            </a:r>
          </a:p>
        </p:txBody>
      </p:sp>
      <p:sp>
        <p:nvSpPr>
          <p:cNvPr id="74" name="TextBox 38"/>
          <p:cNvSpPr txBox="1"/>
          <p:nvPr/>
        </p:nvSpPr>
        <p:spPr>
          <a:xfrm>
            <a:off x="6080760" y="36271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AI 分类</a:t>
            </a:r>
          </a:p>
        </p:txBody>
      </p:sp>
      <p:sp>
        <p:nvSpPr>
          <p:cNvPr id="75" name="TextBox 39"/>
          <p:cNvSpPr txBox="1"/>
          <p:nvPr/>
        </p:nvSpPr>
        <p:spPr>
          <a:xfrm>
            <a:off x="6080760" y="391972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智能语义理解</a:t>
            </a:r>
          </a:p>
        </p:txBody>
      </p:sp>
      <p:sp>
        <p:nvSpPr>
          <p:cNvPr id="76" name="Rounded Rectangle 40"/>
          <p:cNvSpPr/>
          <p:nvPr/>
        </p:nvSpPr>
        <p:spPr>
          <a:xfrm>
            <a:off x="7452360" y="3124200"/>
            <a:ext cx="1325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7" name="TextBox 41"/>
          <p:cNvSpPr txBox="1"/>
          <p:nvPr/>
        </p:nvSpPr>
        <p:spPr>
          <a:xfrm>
            <a:off x="7371080" y="32156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💡</a:t>
            </a:r>
          </a:p>
        </p:txBody>
      </p:sp>
      <p:sp>
        <p:nvSpPr>
          <p:cNvPr id="78" name="TextBox 42"/>
          <p:cNvSpPr txBox="1"/>
          <p:nvPr/>
        </p:nvSpPr>
        <p:spPr>
          <a:xfrm>
            <a:off x="7498080" y="36271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AI 分析</a:t>
            </a:r>
          </a:p>
        </p:txBody>
      </p:sp>
      <p:sp>
        <p:nvSpPr>
          <p:cNvPr id="79" name="TextBox 43"/>
          <p:cNvSpPr txBox="1"/>
          <p:nvPr/>
        </p:nvSpPr>
        <p:spPr>
          <a:xfrm>
            <a:off x="7498080" y="391972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消费建议生成</a:t>
            </a:r>
          </a:p>
        </p:txBody>
      </p:sp>
      <p:sp>
        <p:nvSpPr>
          <p:cNvPr id="81" name="Rounded Rectangle 7"/>
          <p:cNvSpPr/>
          <p:nvPr>
            <p:custDataLst>
              <p:tags r:id="rId1"/>
            </p:custDataLst>
          </p:nvPr>
        </p:nvSpPr>
        <p:spPr>
          <a:xfrm>
            <a:off x="4517390" y="868680"/>
            <a:ext cx="4023360" cy="1706245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2" name="TextBox 8"/>
          <p:cNvSpPr txBox="1"/>
          <p:nvPr>
            <p:custDataLst>
              <p:tags r:id="rId2"/>
            </p:custDataLst>
          </p:nvPr>
        </p:nvSpPr>
        <p:spPr>
          <a:xfrm>
            <a:off x="4700270" y="1005840"/>
            <a:ext cx="365760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rPr lang="zh-CN"/>
              <a:t>应用</a:t>
            </a:r>
            <a:r>
              <a:rPr lang="zh-CN"/>
              <a:t>场景</a:t>
            </a:r>
            <a:endParaRPr lang="zh-CN"/>
          </a:p>
        </p:txBody>
      </p:sp>
      <p:sp>
        <p:nvSpPr>
          <p:cNvPr id="83" name="TextBox 9"/>
          <p:cNvSpPr txBox="1"/>
          <p:nvPr>
            <p:custDataLst>
              <p:tags r:id="rId3"/>
            </p:custDataLst>
          </p:nvPr>
        </p:nvSpPr>
        <p:spPr>
          <a:xfrm>
            <a:off x="4700270" y="1417320"/>
            <a:ext cx="3657600" cy="9531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zh-CN" altLang="en-US"/>
              <a:t>日常生活记账：餐饮、购物、交通等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zh-CN" altLang="en-US"/>
              <a:t>学生和年轻白领理财助手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zh-CN" altLang="en-US"/>
              <a:t>小额支出管理和消费分析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zh-CN" altLang="en-US"/>
              <a:t>个性化财务建议与消费规划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34004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成员分工与预期计划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51785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Alpha 冲刺目标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17545"/>
            <a:ext cx="2697480" cy="12344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32689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125" y="3589020"/>
            <a:ext cx="2698115" cy="678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400"/>
              <a:t>完成核心业务闭环验证</a:t>
            </a:r>
            <a:endParaRPr sz="1400"/>
          </a:p>
          <a:p>
            <a:pPr algn="l">
              <a:defRPr sz="11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400"/>
              <a:t>（记账 → 管理 → 统计 → 分析）</a:t>
            </a:r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3200400" y="3217545"/>
            <a:ext cx="2697480" cy="12344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89120" y="32689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5505" y="3704590"/>
            <a:ext cx="233299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400"/>
              <a:t>接入语音识别与 AI 分类</a:t>
            </a:r>
            <a:endParaRPr sz="1400"/>
          </a:p>
        </p:txBody>
      </p:sp>
      <p:sp>
        <p:nvSpPr>
          <p:cNvPr id="22" name="Rounded Rectangle 21"/>
          <p:cNvSpPr/>
          <p:nvPr/>
        </p:nvSpPr>
        <p:spPr>
          <a:xfrm>
            <a:off x="6035040" y="3217545"/>
            <a:ext cx="2697480" cy="12344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0" y="32689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205" y="3634740"/>
            <a:ext cx="20116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400"/>
              <a:t>完成前后端联调与测试，形成可演示的原型</a:t>
            </a:r>
            <a:endParaRPr sz="1400"/>
          </a:p>
        </p:txBody>
      </p:sp>
      <p:graphicFrame>
        <p:nvGraphicFramePr>
          <p:cNvPr id="26" name="Table 4"/>
          <p:cNvGraphicFramePr>
            <a:graphicFrameLocks noGrp="1"/>
          </p:cNvGraphicFramePr>
          <p:nvPr/>
        </p:nvGraphicFramePr>
        <p:xfrm>
          <a:off x="457200" y="949325"/>
          <a:ext cx="83210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943600"/>
                <a:gridCol w="1005840"/>
              </a:tblGrid>
              <a:tr h="411480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主要负责内容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工作量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>
                        <a:defRPr sz="1300" b="1">
                          <a:latin typeface="微软雅黑" panose="020B0503020204020204" charset="-122"/>
                        </a:defRPr>
                      </a:pPr>
                      <a:r>
                        <a:t>李佳琪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小程序前端开发、Flask 后端开发、核心业务逻辑、语音识别接入、前后端联调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p>
                      <a:pPr>
                        <a:defRPr sz="1300" b="1">
                          <a:latin typeface="微软雅黑" panose="020B0503020204020204" charset="-122"/>
                        </a:defRPr>
                      </a:pPr>
                      <a:r>
                        <a:t>程天润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页面 UI 设计、前端开发辅助、基础语音接入、功能测试与问题反馈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p>
                      <a:pPr>
                        <a:defRPr sz="1300" b="1">
                          <a:latin typeface="微软雅黑" panose="020B0503020204020204" charset="-122"/>
                        </a:defRPr>
                      </a:pPr>
                      <a:r>
                        <a:t>莫仕明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需求文档、系统设计文档、项目资料整理、PPT 制作</a:t>
                      </a:r>
                      <a:r>
                        <a:rPr lang="zh-CN"/>
                        <a:t>、</a:t>
                      </a:r>
                      <a:r>
                        <a:rPr lang="zh-CN"/>
                        <a:t>答辩</a:t>
                      </a:r>
                      <a:endParaRPr 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125539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燃尽图</a:t>
            </a:r>
          </a:p>
        </p:txBody>
      </p:sp>
      <p:pic>
        <p:nvPicPr>
          <p:cNvPr id="4" name="Picture 3" descr="冲刺燃尽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" y="711835"/>
            <a:ext cx="7898765" cy="3943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34004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/>
              <a:t>项目进度与迭代版本</a:t>
            </a:r>
            <a:endParaRPr lang="zh-CN"/>
          </a:p>
        </p:txBody>
      </p:sp>
      <p:graphicFrame>
        <p:nvGraphicFramePr>
          <p:cNvPr id="37" name="Table 4"/>
          <p:cNvGraphicFramePr>
            <a:graphicFrameLocks noGrp="1"/>
          </p:cNvGraphicFramePr>
          <p:nvPr/>
        </p:nvGraphicFramePr>
        <p:xfrm>
          <a:off x="457200" y="1000125"/>
          <a:ext cx="8321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217920"/>
                <a:gridCol w="1188720"/>
              </a:tblGrid>
              <a:tr h="315883">
                <a:tc>
                  <a:txBody>
                    <a:bodyPr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主要内容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小程序项目创建，搭建首页和账单列表页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实现文字记账、账单保存与列表展示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V0.3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接入 Flask 后端，实现基础文本解析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接入百度语音识别，实现语音转文字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V0.5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支持账单删除、编辑，实现增删改查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新增统计页，实现总支出、分类汇总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V0.7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接入百炼大模型，实现 AI 智能分类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新增 AI 消费分析与建议接口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15883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V0.9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优化首页、列表页、统计页 UI 风格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315890"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latin typeface="微软雅黑" panose="020B0503020204020204" charset="-122"/>
                        </a:defRPr>
                      </a:pPr>
                      <a:r>
                        <a:t>形成语音记账 + AI 分类 + 统计完整闭环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38A169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304292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系统架构与技术栈</a:t>
            </a:r>
          </a:p>
        </p:txBody>
      </p:sp>
      <p:sp>
        <p:nvSpPr>
          <p:cNvPr id="42" name="Rounded Rectangle 4"/>
          <p:cNvSpPr/>
          <p:nvPr/>
        </p:nvSpPr>
        <p:spPr>
          <a:xfrm>
            <a:off x="457200" y="1035685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5"/>
          <p:cNvSpPr txBox="1"/>
          <p:nvPr/>
        </p:nvSpPr>
        <p:spPr>
          <a:xfrm>
            <a:off x="548640" y="1127125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rPr sz="2000"/>
              <a:t>微信小程序前端</a:t>
            </a:r>
            <a:endParaRPr sz="2000"/>
          </a:p>
        </p:txBody>
      </p:sp>
      <p:sp>
        <p:nvSpPr>
          <p:cNvPr id="44" name="TextBox 6"/>
          <p:cNvSpPr txBox="1"/>
          <p:nvPr/>
        </p:nvSpPr>
        <p:spPr>
          <a:xfrm>
            <a:off x="640080" y="1560830"/>
            <a:ext cx="219456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首页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文字 &amp; 语音记账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最近账单预览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账单列表页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查看 / 编辑 / 删除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统计页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总支出 &amp; 分类占比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AI 消费分析</a:t>
            </a:r>
            <a:endParaRPr sz="1400"/>
          </a:p>
        </p:txBody>
      </p:sp>
      <p:sp>
        <p:nvSpPr>
          <p:cNvPr id="45" name="Rounded Rectangle 7"/>
          <p:cNvSpPr/>
          <p:nvPr/>
        </p:nvSpPr>
        <p:spPr>
          <a:xfrm>
            <a:off x="3291840" y="1035685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8"/>
          <p:cNvSpPr txBox="1"/>
          <p:nvPr/>
        </p:nvSpPr>
        <p:spPr>
          <a:xfrm>
            <a:off x="3383280" y="1127125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rPr sz="2000"/>
              <a:t>Flask 后端</a:t>
            </a:r>
            <a:endParaRPr sz="2000"/>
          </a:p>
        </p:txBody>
      </p:sp>
      <p:sp>
        <p:nvSpPr>
          <p:cNvPr id="47" name="TextBox 9"/>
          <p:cNvSpPr txBox="1"/>
          <p:nvPr/>
        </p:nvSpPr>
        <p:spPr>
          <a:xfrm>
            <a:off x="3474720" y="1560830"/>
            <a:ext cx="2194560" cy="24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>
                <a:latin typeface="Consolas" panose="020B0609020204030204" charset="0"/>
                <a:cs typeface="Consolas" panose="020B0609020204030204" charset="0"/>
              </a:rPr>
              <a:t>/parse_bill</a:t>
            </a:r>
            <a:endParaRPr sz="1400">
              <a:latin typeface="Consolas" panose="020B0609020204030204" charset="0"/>
              <a:cs typeface="Consolas" panose="020B0609020204030204" charset="0"/>
            </a:endParaRP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文本账单解析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>
                <a:latin typeface="Consolas" panose="020B0609020204030204" charset="0"/>
                <a:cs typeface="Consolas" panose="020B0609020204030204" charset="0"/>
              </a:rPr>
              <a:t>/speech_to_text</a:t>
            </a:r>
            <a:endParaRPr sz="1400">
              <a:latin typeface="Consolas" panose="020B0609020204030204" charset="0"/>
              <a:cs typeface="Consolas" panose="020B0609020204030204" charset="0"/>
            </a:endParaRP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语音转文字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>
                <a:latin typeface="Consolas" panose="020B0609020204030204" charset="0"/>
                <a:cs typeface="Consolas" panose="020B0609020204030204" charset="0"/>
              </a:rPr>
              <a:t>/analyze_bills</a:t>
            </a:r>
            <a:endParaRPr sz="1400">
              <a:latin typeface="Consolas" panose="020B0609020204030204" charset="0"/>
              <a:cs typeface="Consolas" panose="020B0609020204030204" charset="0"/>
            </a:endParaRP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AI 消费分析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数据存储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当前：本地存储</a:t>
            </a:r>
            <a:endParaRPr sz="1400"/>
          </a:p>
        </p:txBody>
      </p:sp>
      <p:sp>
        <p:nvSpPr>
          <p:cNvPr id="48" name="Rounded Rectangle 10"/>
          <p:cNvSpPr/>
          <p:nvPr/>
        </p:nvSpPr>
        <p:spPr>
          <a:xfrm>
            <a:off x="6126480" y="1035685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11"/>
          <p:cNvSpPr txBox="1"/>
          <p:nvPr/>
        </p:nvSpPr>
        <p:spPr>
          <a:xfrm>
            <a:off x="6217920" y="1127125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rPr sz="2000"/>
              <a:t>第三方 AI 服务</a:t>
            </a:r>
            <a:endParaRPr sz="2000"/>
          </a:p>
        </p:txBody>
      </p:sp>
      <p:sp>
        <p:nvSpPr>
          <p:cNvPr id="50" name="TextBox 12"/>
          <p:cNvSpPr txBox="1"/>
          <p:nvPr/>
        </p:nvSpPr>
        <p:spPr>
          <a:xfrm>
            <a:off x="6309360" y="1560830"/>
            <a:ext cx="219456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百度语音识别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录音 → 转文字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百炼大模型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语义理解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AI 智能分类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消费分析建议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回退机制</a:t>
            </a:r>
            <a:endParaRPr sz="1400"/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sz="1400"/>
              <a:t>  · AI 失败时规则兜底</a:t>
            </a:r>
            <a:endParaRPr sz="1400"/>
          </a:p>
        </p:txBody>
      </p:sp>
      <p:sp>
        <p:nvSpPr>
          <p:cNvPr id="51" name="Right Arrow 13"/>
          <p:cNvSpPr/>
          <p:nvPr/>
        </p:nvSpPr>
        <p:spPr>
          <a:xfrm>
            <a:off x="3017520" y="2498725"/>
            <a:ext cx="365760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14"/>
          <p:cNvSpPr/>
          <p:nvPr/>
        </p:nvSpPr>
        <p:spPr>
          <a:xfrm>
            <a:off x="5852160" y="2498725"/>
            <a:ext cx="365760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232791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核心业务流程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2650" y="5997575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455" y="1075690"/>
            <a:ext cx="1417320" cy="1694815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057275"/>
            <a:ext cx="1417320" cy="17138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5663" y="11624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文字输入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60195"/>
            <a:ext cx="777240" cy="59436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2135" y="2227580"/>
            <a:ext cx="935990" cy="3956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用户输入账单文字内容</a:t>
            </a:r>
            <a:endParaRPr sz="1000"/>
          </a:p>
        </p:txBody>
      </p:sp>
      <p:sp>
        <p:nvSpPr>
          <p:cNvPr id="12" name="Right Arrow 11"/>
          <p:cNvSpPr/>
          <p:nvPr/>
        </p:nvSpPr>
        <p:spPr>
          <a:xfrm>
            <a:off x="1755648" y="1948815"/>
            <a:ext cx="192024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4375" y="1075690"/>
            <a:ext cx="1417320" cy="1715135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65960" y="1057275"/>
            <a:ext cx="1417320" cy="17138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4283" y="118529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后端解析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1560195"/>
            <a:ext cx="777240" cy="59436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227580"/>
            <a:ext cx="1234440" cy="39497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解析文本结构</a:t>
            </a:r>
            <a:br>
              <a:rPr sz="1000"/>
            </a:br>
            <a:r>
              <a:rPr sz="1000"/>
              <a:t>提取关键信息</a:t>
            </a:r>
            <a:endParaRPr sz="1000"/>
          </a:p>
        </p:txBody>
      </p:sp>
      <p:sp>
        <p:nvSpPr>
          <p:cNvPr id="20" name="Right Arrow 19"/>
          <p:cNvSpPr/>
          <p:nvPr/>
        </p:nvSpPr>
        <p:spPr>
          <a:xfrm>
            <a:off x="3401568" y="1948815"/>
            <a:ext cx="192024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0295" y="1075690"/>
            <a:ext cx="1417320" cy="1735455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11880" y="1057275"/>
            <a:ext cx="1417320" cy="17335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5918" y="118529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AI分类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1560195"/>
            <a:ext cx="777240" cy="59436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2227580"/>
            <a:ext cx="1234440" cy="3956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AI识别并分类</a:t>
            </a:r>
            <a:br>
              <a:rPr sz="1000"/>
            </a:br>
            <a:r>
              <a:rPr sz="1000"/>
              <a:t>消费类型与项目</a:t>
            </a:r>
            <a:endParaRPr sz="1000"/>
          </a:p>
        </p:txBody>
      </p:sp>
      <p:sp>
        <p:nvSpPr>
          <p:cNvPr id="28" name="Right Arrow 27"/>
          <p:cNvSpPr/>
          <p:nvPr/>
        </p:nvSpPr>
        <p:spPr>
          <a:xfrm>
            <a:off x="5047488" y="1948815"/>
            <a:ext cx="192024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" name="Rounded Rectangle 28"/>
          <p:cNvSpPr/>
          <p:nvPr/>
        </p:nvSpPr>
        <p:spPr>
          <a:xfrm>
            <a:off x="5276215" y="1075690"/>
            <a:ext cx="1417320" cy="1735455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" name="Rounded Rectangle 29"/>
          <p:cNvSpPr/>
          <p:nvPr/>
        </p:nvSpPr>
        <p:spPr>
          <a:xfrm>
            <a:off x="5257800" y="1057275"/>
            <a:ext cx="1417320" cy="17329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TextBox 31"/>
          <p:cNvSpPr txBox="1"/>
          <p:nvPr/>
        </p:nvSpPr>
        <p:spPr>
          <a:xfrm>
            <a:off x="5561838" y="118529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保存账单</a:t>
            </a:r>
          </a:p>
        </p:txBody>
      </p:sp>
      <p:sp>
        <p:nvSpPr>
          <p:cNvPr id="34" name="Rounded Rectangle 32"/>
          <p:cNvSpPr/>
          <p:nvPr/>
        </p:nvSpPr>
        <p:spPr>
          <a:xfrm>
            <a:off x="5577840" y="1560195"/>
            <a:ext cx="777240" cy="59436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6" name="TextBox 34"/>
          <p:cNvSpPr txBox="1"/>
          <p:nvPr/>
        </p:nvSpPr>
        <p:spPr>
          <a:xfrm>
            <a:off x="5349240" y="2227580"/>
            <a:ext cx="1234440" cy="39433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保存结构化数据</a:t>
            </a:r>
            <a:br>
              <a:rPr sz="1000"/>
            </a:br>
            <a:r>
              <a:rPr sz="1000"/>
              <a:t>便于后续使用</a:t>
            </a:r>
            <a:endParaRPr sz="1000"/>
          </a:p>
        </p:txBody>
      </p:sp>
      <p:sp>
        <p:nvSpPr>
          <p:cNvPr id="37" name="Right Arrow 35"/>
          <p:cNvSpPr/>
          <p:nvPr/>
        </p:nvSpPr>
        <p:spPr>
          <a:xfrm>
            <a:off x="6693408" y="1948815"/>
            <a:ext cx="192024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8" name="Rounded Rectangle 36"/>
          <p:cNvSpPr/>
          <p:nvPr/>
        </p:nvSpPr>
        <p:spPr>
          <a:xfrm>
            <a:off x="6922135" y="1075690"/>
            <a:ext cx="1417320" cy="1735455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9" name="Rounded Rectangle 37"/>
          <p:cNvSpPr/>
          <p:nvPr/>
        </p:nvSpPr>
        <p:spPr>
          <a:xfrm>
            <a:off x="6903720" y="1057275"/>
            <a:ext cx="1417320" cy="1732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1" name="TextBox 39"/>
          <p:cNvSpPr txBox="1"/>
          <p:nvPr/>
        </p:nvSpPr>
        <p:spPr>
          <a:xfrm>
            <a:off x="6946265" y="1128395"/>
            <a:ext cx="131762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AI消费分析</a:t>
            </a:r>
            <a:br/>
            <a:r>
              <a:t>与展示</a:t>
            </a:r>
          </a:p>
        </p:txBody>
      </p:sp>
      <p:sp>
        <p:nvSpPr>
          <p:cNvPr id="42" name="Rounded Rectangle 40"/>
          <p:cNvSpPr/>
          <p:nvPr/>
        </p:nvSpPr>
        <p:spPr>
          <a:xfrm>
            <a:off x="7223760" y="1560195"/>
            <a:ext cx="777240" cy="59436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4" name="TextBox 42"/>
          <p:cNvSpPr txBox="1"/>
          <p:nvPr/>
        </p:nvSpPr>
        <p:spPr>
          <a:xfrm>
            <a:off x="6995160" y="2227580"/>
            <a:ext cx="1234440" cy="39497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生成可视化报表</a:t>
            </a:r>
            <a:br>
              <a:rPr sz="1000"/>
            </a:br>
            <a:r>
              <a:rPr sz="1000"/>
              <a:t>支持多维分析</a:t>
            </a:r>
            <a:endParaRPr sz="1000"/>
          </a:p>
        </p:txBody>
      </p:sp>
      <p:sp>
        <p:nvSpPr>
          <p:cNvPr id="45" name="Rounded Rectangle 43"/>
          <p:cNvSpPr/>
          <p:nvPr/>
        </p:nvSpPr>
        <p:spPr>
          <a:xfrm>
            <a:off x="320040" y="3319145"/>
            <a:ext cx="1417320" cy="9601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8" name="TextBox 46"/>
          <p:cNvSpPr txBox="1"/>
          <p:nvPr/>
        </p:nvSpPr>
        <p:spPr>
          <a:xfrm>
            <a:off x="829310" y="3408553"/>
            <a:ext cx="868680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200"/>
              <a:t>语音输入</a:t>
            </a:r>
            <a:endParaRPr sz="1200"/>
          </a:p>
        </p:txBody>
      </p:sp>
      <p:sp>
        <p:nvSpPr>
          <p:cNvPr id="49" name="TextBox 47"/>
          <p:cNvSpPr txBox="1"/>
          <p:nvPr/>
        </p:nvSpPr>
        <p:spPr>
          <a:xfrm>
            <a:off x="829310" y="3707765"/>
            <a:ext cx="94678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用户语音录入</a:t>
            </a:r>
            <a:br>
              <a:rPr sz="1000"/>
            </a:br>
            <a:r>
              <a:rPr sz="1000"/>
              <a:t>账单信息</a:t>
            </a:r>
            <a:endParaRPr sz="1000"/>
          </a:p>
        </p:txBody>
      </p:sp>
      <p:sp>
        <p:nvSpPr>
          <p:cNvPr id="50" name="Right Arrow 48"/>
          <p:cNvSpPr/>
          <p:nvPr/>
        </p:nvSpPr>
        <p:spPr>
          <a:xfrm>
            <a:off x="1737233" y="3726053"/>
            <a:ext cx="182880" cy="146304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1" name="Rounded Rectangle 49"/>
          <p:cNvSpPr/>
          <p:nvPr/>
        </p:nvSpPr>
        <p:spPr>
          <a:xfrm>
            <a:off x="1965706" y="3319145"/>
            <a:ext cx="1417320" cy="9601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4" name="TextBox 52"/>
          <p:cNvSpPr txBox="1"/>
          <p:nvPr/>
        </p:nvSpPr>
        <p:spPr>
          <a:xfrm>
            <a:off x="2443226" y="3379978"/>
            <a:ext cx="868680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200"/>
              <a:t>识别文字</a:t>
            </a:r>
            <a:endParaRPr sz="1200"/>
          </a:p>
        </p:txBody>
      </p:sp>
      <p:sp>
        <p:nvSpPr>
          <p:cNvPr id="55" name="TextBox 53"/>
          <p:cNvSpPr txBox="1"/>
          <p:nvPr/>
        </p:nvSpPr>
        <p:spPr>
          <a:xfrm>
            <a:off x="2450465" y="3655695"/>
            <a:ext cx="95059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语音转文字</a:t>
            </a:r>
            <a:br>
              <a:rPr sz="1000"/>
            </a:br>
            <a:r>
              <a:rPr sz="1000"/>
              <a:t>生成文本内容</a:t>
            </a:r>
            <a:endParaRPr sz="1000"/>
          </a:p>
        </p:txBody>
      </p:sp>
      <p:sp>
        <p:nvSpPr>
          <p:cNvPr id="56" name="Up Arrow 54"/>
          <p:cNvSpPr/>
          <p:nvPr/>
        </p:nvSpPr>
        <p:spPr>
          <a:xfrm>
            <a:off x="2547620" y="2842895"/>
            <a:ext cx="146050" cy="299720"/>
          </a:xfrm>
          <a:prstGeom prst="up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grpSp>
        <p:nvGrpSpPr>
          <p:cNvPr id="57" name="组合 56"/>
          <p:cNvGrpSpPr/>
          <p:nvPr/>
        </p:nvGrpSpPr>
        <p:grpSpPr>
          <a:xfrm>
            <a:off x="4286885" y="3058160"/>
            <a:ext cx="4097655" cy="1817370"/>
            <a:chOff x="2342665" y="2062443"/>
            <a:chExt cx="3591681" cy="4328232"/>
          </a:xfr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51000">
                <a:srgbClr val="E0E9F4">
                  <a:alpha val="100000"/>
                </a:srgb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grpSpPr>
        <p:sp>
          <p:nvSpPr>
            <p:cNvPr id="58" name="矩形: 圆角 34"/>
            <p:cNvSpPr/>
            <p:nvPr/>
          </p:nvSpPr>
          <p:spPr>
            <a:xfrm>
              <a:off x="2342666" y="2068307"/>
              <a:ext cx="3590365" cy="4316505"/>
            </a:xfrm>
            <a:prstGeom prst="roundRect">
              <a:avLst>
                <a:gd name="adj" fmla="val 0"/>
              </a:avLst>
            </a:prstGeom>
            <a:grpFill/>
            <a:ln w="6350">
              <a:gradFill flip="none" rotWithShape="1">
                <a:gsLst>
                  <a:gs pos="85000">
                    <a:srgbClr val="1CADE4">
                      <a:lumMod val="30000"/>
                      <a:lumOff val="70000"/>
                    </a:srgbClr>
                  </a:gs>
                  <a:gs pos="75000">
                    <a:srgbClr val="1CADE4">
                      <a:alpha val="0"/>
                    </a:srgbClr>
                  </a:gs>
                  <a:gs pos="0">
                    <a:schemeClr val="accent1"/>
                  </a:gs>
                  <a:gs pos="2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59" name="矩形: 圆角 33"/>
            <p:cNvSpPr/>
            <p:nvPr/>
          </p:nvSpPr>
          <p:spPr>
            <a:xfrm>
              <a:off x="2342665" y="2068307"/>
              <a:ext cx="3590365" cy="4316505"/>
            </a:xfrm>
            <a:prstGeom prst="roundRect">
              <a:avLst>
                <a:gd name="adj" fmla="val 0"/>
              </a:avLst>
            </a:prstGeom>
            <a:grpFill/>
            <a:ln w="6350">
              <a:noFill/>
            </a:ln>
            <a:effectLst>
              <a:innerShdw blurRad="457200">
                <a:schemeClr val="accent1"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2348919" y="2062443"/>
              <a:ext cx="3585427" cy="209355"/>
              <a:chOff x="2303229" y="2062109"/>
              <a:chExt cx="3585427" cy="209355"/>
            </a:xfrm>
            <a:grpFill/>
          </p:grpSpPr>
          <p:sp>
            <p:nvSpPr>
              <p:cNvPr id="61" name="直角三角形 5"/>
              <p:cNvSpPr/>
              <p:nvPr/>
            </p:nvSpPr>
            <p:spPr>
              <a:xfrm rot="5400000">
                <a:off x="2303229" y="2062109"/>
                <a:ext cx="200890" cy="200889"/>
              </a:xfrm>
              <a:custGeom>
                <a:avLst/>
                <a:gdLst>
                  <a:gd name="connsiteX0" fmla="*/ 0 w 1828800"/>
                  <a:gd name="connsiteY0" fmla="*/ 1828800 h 1828800"/>
                  <a:gd name="connsiteX1" fmla="*/ 0 w 1828800"/>
                  <a:gd name="connsiteY1" fmla="*/ 0 h 1828800"/>
                  <a:gd name="connsiteX2" fmla="*/ 1828800 w 1828800"/>
                  <a:gd name="connsiteY2" fmla="*/ 1828800 h 1828800"/>
                  <a:gd name="connsiteX3" fmla="*/ 0 w 1828800"/>
                  <a:gd name="connsiteY3" fmla="*/ 1828800 h 1828800"/>
                  <a:gd name="connsiteX0-1" fmla="*/ 0 w 1828800"/>
                  <a:gd name="connsiteY0-2" fmla="*/ 1828800 h 1828800"/>
                  <a:gd name="connsiteX1-3" fmla="*/ 0 w 1828800"/>
                  <a:gd name="connsiteY1-4" fmla="*/ 0 h 1828800"/>
                  <a:gd name="connsiteX2-5" fmla="*/ 868680 w 1828800"/>
                  <a:gd name="connsiteY2-6" fmla="*/ 866140 h 1828800"/>
                  <a:gd name="connsiteX3-7" fmla="*/ 1828800 w 1828800"/>
                  <a:gd name="connsiteY3-8" fmla="*/ 1828800 h 1828800"/>
                  <a:gd name="connsiteX4" fmla="*/ 0 w 1828800"/>
                  <a:gd name="connsiteY4" fmla="*/ 1828800 h 1828800"/>
                  <a:gd name="connsiteX0-9" fmla="*/ 0 w 1828800"/>
                  <a:gd name="connsiteY0-10" fmla="*/ 1828800 h 1828800"/>
                  <a:gd name="connsiteX1-11" fmla="*/ 0 w 1828800"/>
                  <a:gd name="connsiteY1-12" fmla="*/ 0 h 1828800"/>
                  <a:gd name="connsiteX2-13" fmla="*/ 916305 w 1828800"/>
                  <a:gd name="connsiteY2-14" fmla="*/ 913765 h 1828800"/>
                  <a:gd name="connsiteX3-15" fmla="*/ 1828800 w 1828800"/>
                  <a:gd name="connsiteY3-16" fmla="*/ 1828800 h 1828800"/>
                  <a:gd name="connsiteX4-17" fmla="*/ 0 w 1828800"/>
                  <a:gd name="connsiteY4-18" fmla="*/ 1828800 h 1828800"/>
                  <a:gd name="connsiteX0-19" fmla="*/ 0 w 1828800"/>
                  <a:gd name="connsiteY0-20" fmla="*/ 1828800 h 1828800"/>
                  <a:gd name="connsiteX1-21" fmla="*/ 0 w 1828800"/>
                  <a:gd name="connsiteY1-22" fmla="*/ 0 h 1828800"/>
                  <a:gd name="connsiteX2-23" fmla="*/ 293370 w 1828800"/>
                  <a:gd name="connsiteY2-24" fmla="*/ 1538605 h 1828800"/>
                  <a:gd name="connsiteX3-25" fmla="*/ 1828800 w 1828800"/>
                  <a:gd name="connsiteY3-26" fmla="*/ 1828800 h 1828800"/>
                  <a:gd name="connsiteX4-27" fmla="*/ 0 w 1828800"/>
                  <a:gd name="connsiteY4-28" fmla="*/ 1828800 h 18288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1828800" h="1828800">
                    <a:moveTo>
                      <a:pt x="0" y="1828800"/>
                    </a:moveTo>
                    <a:lnTo>
                      <a:pt x="0" y="0"/>
                    </a:lnTo>
                    <a:lnTo>
                      <a:pt x="293370" y="1538605"/>
                    </a:lnTo>
                    <a:lnTo>
                      <a:pt x="182880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grpFill/>
              <a:ln w="635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9200000" scaled="0"/>
                </a:gradFill>
              </a:ln>
              <a:effectLst>
                <a:outerShdw blurRad="152400" algn="ctr" rotWithShape="0">
                  <a:schemeClr val="accent1">
                    <a:lumMod val="60000"/>
                    <a:lumOff val="40000"/>
                    <a:alpha val="7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  <p:sp>
            <p:nvSpPr>
              <p:cNvPr id="62" name="直角三角形 5"/>
              <p:cNvSpPr/>
              <p:nvPr/>
            </p:nvSpPr>
            <p:spPr>
              <a:xfrm rot="16200000" flipH="1">
                <a:off x="5687765" y="2070572"/>
                <a:ext cx="200892" cy="200891"/>
              </a:xfrm>
              <a:custGeom>
                <a:avLst/>
                <a:gdLst>
                  <a:gd name="connsiteX0" fmla="*/ 0 w 1828800"/>
                  <a:gd name="connsiteY0" fmla="*/ 1828800 h 1828800"/>
                  <a:gd name="connsiteX1" fmla="*/ 0 w 1828800"/>
                  <a:gd name="connsiteY1" fmla="*/ 0 h 1828800"/>
                  <a:gd name="connsiteX2" fmla="*/ 1828800 w 1828800"/>
                  <a:gd name="connsiteY2" fmla="*/ 1828800 h 1828800"/>
                  <a:gd name="connsiteX3" fmla="*/ 0 w 1828800"/>
                  <a:gd name="connsiteY3" fmla="*/ 1828800 h 1828800"/>
                  <a:gd name="connsiteX0-1" fmla="*/ 0 w 1828800"/>
                  <a:gd name="connsiteY0-2" fmla="*/ 1828800 h 1828800"/>
                  <a:gd name="connsiteX1-3" fmla="*/ 0 w 1828800"/>
                  <a:gd name="connsiteY1-4" fmla="*/ 0 h 1828800"/>
                  <a:gd name="connsiteX2-5" fmla="*/ 868680 w 1828800"/>
                  <a:gd name="connsiteY2-6" fmla="*/ 866140 h 1828800"/>
                  <a:gd name="connsiteX3-7" fmla="*/ 1828800 w 1828800"/>
                  <a:gd name="connsiteY3-8" fmla="*/ 1828800 h 1828800"/>
                  <a:gd name="connsiteX4" fmla="*/ 0 w 1828800"/>
                  <a:gd name="connsiteY4" fmla="*/ 1828800 h 1828800"/>
                  <a:gd name="connsiteX0-9" fmla="*/ 0 w 1828800"/>
                  <a:gd name="connsiteY0-10" fmla="*/ 1828800 h 1828800"/>
                  <a:gd name="connsiteX1-11" fmla="*/ 0 w 1828800"/>
                  <a:gd name="connsiteY1-12" fmla="*/ 0 h 1828800"/>
                  <a:gd name="connsiteX2-13" fmla="*/ 916305 w 1828800"/>
                  <a:gd name="connsiteY2-14" fmla="*/ 913765 h 1828800"/>
                  <a:gd name="connsiteX3-15" fmla="*/ 1828800 w 1828800"/>
                  <a:gd name="connsiteY3-16" fmla="*/ 1828800 h 1828800"/>
                  <a:gd name="connsiteX4-17" fmla="*/ 0 w 1828800"/>
                  <a:gd name="connsiteY4-18" fmla="*/ 1828800 h 1828800"/>
                  <a:gd name="connsiteX0-19" fmla="*/ 0 w 1828800"/>
                  <a:gd name="connsiteY0-20" fmla="*/ 1828800 h 1828800"/>
                  <a:gd name="connsiteX1-21" fmla="*/ 0 w 1828800"/>
                  <a:gd name="connsiteY1-22" fmla="*/ 0 h 1828800"/>
                  <a:gd name="connsiteX2-23" fmla="*/ 293370 w 1828800"/>
                  <a:gd name="connsiteY2-24" fmla="*/ 1538605 h 1828800"/>
                  <a:gd name="connsiteX3-25" fmla="*/ 1828800 w 1828800"/>
                  <a:gd name="connsiteY3-26" fmla="*/ 1828800 h 1828800"/>
                  <a:gd name="connsiteX4-27" fmla="*/ 0 w 1828800"/>
                  <a:gd name="connsiteY4-28" fmla="*/ 1828800 h 18288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1828800" h="1828800">
                    <a:moveTo>
                      <a:pt x="0" y="1828800"/>
                    </a:moveTo>
                    <a:lnTo>
                      <a:pt x="0" y="0"/>
                    </a:lnTo>
                    <a:lnTo>
                      <a:pt x="293370" y="1538605"/>
                    </a:lnTo>
                    <a:lnTo>
                      <a:pt x="182880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grpFill/>
              <a:ln w="635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9200000" scaled="0"/>
                </a:gradFill>
              </a:ln>
              <a:effectLst>
                <a:outerShdw blurRad="152400" algn="ctr" rotWithShape="0">
                  <a:schemeClr val="accent1">
                    <a:lumMod val="60000"/>
                    <a:lumOff val="40000"/>
                    <a:alpha val="7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 flipV="1">
              <a:off x="2348921" y="6186526"/>
              <a:ext cx="3584111" cy="204149"/>
              <a:chOff x="2303231" y="2062110"/>
              <a:chExt cx="3584111" cy="204149"/>
            </a:xfrm>
            <a:grpFill/>
          </p:grpSpPr>
          <p:sp>
            <p:nvSpPr>
              <p:cNvPr id="64" name="直角三角形 5"/>
              <p:cNvSpPr/>
              <p:nvPr/>
            </p:nvSpPr>
            <p:spPr>
              <a:xfrm rot="5400000">
                <a:off x="2303232" y="2062109"/>
                <a:ext cx="200885" cy="200887"/>
              </a:xfrm>
              <a:custGeom>
                <a:avLst/>
                <a:gdLst>
                  <a:gd name="connsiteX0" fmla="*/ 0 w 1828800"/>
                  <a:gd name="connsiteY0" fmla="*/ 1828800 h 1828800"/>
                  <a:gd name="connsiteX1" fmla="*/ 0 w 1828800"/>
                  <a:gd name="connsiteY1" fmla="*/ 0 h 1828800"/>
                  <a:gd name="connsiteX2" fmla="*/ 1828800 w 1828800"/>
                  <a:gd name="connsiteY2" fmla="*/ 1828800 h 1828800"/>
                  <a:gd name="connsiteX3" fmla="*/ 0 w 1828800"/>
                  <a:gd name="connsiteY3" fmla="*/ 1828800 h 1828800"/>
                  <a:gd name="connsiteX0-1" fmla="*/ 0 w 1828800"/>
                  <a:gd name="connsiteY0-2" fmla="*/ 1828800 h 1828800"/>
                  <a:gd name="connsiteX1-3" fmla="*/ 0 w 1828800"/>
                  <a:gd name="connsiteY1-4" fmla="*/ 0 h 1828800"/>
                  <a:gd name="connsiteX2-5" fmla="*/ 868680 w 1828800"/>
                  <a:gd name="connsiteY2-6" fmla="*/ 866140 h 1828800"/>
                  <a:gd name="connsiteX3-7" fmla="*/ 1828800 w 1828800"/>
                  <a:gd name="connsiteY3-8" fmla="*/ 1828800 h 1828800"/>
                  <a:gd name="connsiteX4" fmla="*/ 0 w 1828800"/>
                  <a:gd name="connsiteY4" fmla="*/ 1828800 h 1828800"/>
                  <a:gd name="connsiteX0-9" fmla="*/ 0 w 1828800"/>
                  <a:gd name="connsiteY0-10" fmla="*/ 1828800 h 1828800"/>
                  <a:gd name="connsiteX1-11" fmla="*/ 0 w 1828800"/>
                  <a:gd name="connsiteY1-12" fmla="*/ 0 h 1828800"/>
                  <a:gd name="connsiteX2-13" fmla="*/ 916305 w 1828800"/>
                  <a:gd name="connsiteY2-14" fmla="*/ 913765 h 1828800"/>
                  <a:gd name="connsiteX3-15" fmla="*/ 1828800 w 1828800"/>
                  <a:gd name="connsiteY3-16" fmla="*/ 1828800 h 1828800"/>
                  <a:gd name="connsiteX4-17" fmla="*/ 0 w 1828800"/>
                  <a:gd name="connsiteY4-18" fmla="*/ 1828800 h 1828800"/>
                  <a:gd name="connsiteX0-19" fmla="*/ 0 w 1828800"/>
                  <a:gd name="connsiteY0-20" fmla="*/ 1828800 h 1828800"/>
                  <a:gd name="connsiteX1-21" fmla="*/ 0 w 1828800"/>
                  <a:gd name="connsiteY1-22" fmla="*/ 0 h 1828800"/>
                  <a:gd name="connsiteX2-23" fmla="*/ 293370 w 1828800"/>
                  <a:gd name="connsiteY2-24" fmla="*/ 1538605 h 1828800"/>
                  <a:gd name="connsiteX3-25" fmla="*/ 1828800 w 1828800"/>
                  <a:gd name="connsiteY3-26" fmla="*/ 1828800 h 1828800"/>
                  <a:gd name="connsiteX4-27" fmla="*/ 0 w 1828800"/>
                  <a:gd name="connsiteY4-28" fmla="*/ 1828800 h 18288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1828800" h="1828800">
                    <a:moveTo>
                      <a:pt x="0" y="1828800"/>
                    </a:moveTo>
                    <a:lnTo>
                      <a:pt x="0" y="0"/>
                    </a:lnTo>
                    <a:lnTo>
                      <a:pt x="293370" y="1538605"/>
                    </a:lnTo>
                    <a:lnTo>
                      <a:pt x="182880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grpFill/>
              <a:ln w="635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9200000" scaled="0"/>
                </a:gradFill>
              </a:ln>
              <a:effectLst>
                <a:outerShdw blurRad="152400" algn="ctr" rotWithShape="0">
                  <a:schemeClr val="accent1">
                    <a:lumMod val="60000"/>
                    <a:lumOff val="40000"/>
                    <a:alpha val="7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  <p:sp>
            <p:nvSpPr>
              <p:cNvPr id="65" name="直角三角形 5"/>
              <p:cNvSpPr/>
              <p:nvPr/>
            </p:nvSpPr>
            <p:spPr>
              <a:xfrm rot="16200000" flipH="1">
                <a:off x="5686457" y="2065373"/>
                <a:ext cx="200884" cy="200887"/>
              </a:xfrm>
              <a:custGeom>
                <a:avLst/>
                <a:gdLst>
                  <a:gd name="connsiteX0" fmla="*/ 0 w 1828800"/>
                  <a:gd name="connsiteY0" fmla="*/ 1828800 h 1828800"/>
                  <a:gd name="connsiteX1" fmla="*/ 0 w 1828800"/>
                  <a:gd name="connsiteY1" fmla="*/ 0 h 1828800"/>
                  <a:gd name="connsiteX2" fmla="*/ 1828800 w 1828800"/>
                  <a:gd name="connsiteY2" fmla="*/ 1828800 h 1828800"/>
                  <a:gd name="connsiteX3" fmla="*/ 0 w 1828800"/>
                  <a:gd name="connsiteY3" fmla="*/ 1828800 h 1828800"/>
                  <a:gd name="connsiteX0-1" fmla="*/ 0 w 1828800"/>
                  <a:gd name="connsiteY0-2" fmla="*/ 1828800 h 1828800"/>
                  <a:gd name="connsiteX1-3" fmla="*/ 0 w 1828800"/>
                  <a:gd name="connsiteY1-4" fmla="*/ 0 h 1828800"/>
                  <a:gd name="connsiteX2-5" fmla="*/ 868680 w 1828800"/>
                  <a:gd name="connsiteY2-6" fmla="*/ 866140 h 1828800"/>
                  <a:gd name="connsiteX3-7" fmla="*/ 1828800 w 1828800"/>
                  <a:gd name="connsiteY3-8" fmla="*/ 1828800 h 1828800"/>
                  <a:gd name="connsiteX4" fmla="*/ 0 w 1828800"/>
                  <a:gd name="connsiteY4" fmla="*/ 1828800 h 1828800"/>
                  <a:gd name="connsiteX0-9" fmla="*/ 0 w 1828800"/>
                  <a:gd name="connsiteY0-10" fmla="*/ 1828800 h 1828800"/>
                  <a:gd name="connsiteX1-11" fmla="*/ 0 w 1828800"/>
                  <a:gd name="connsiteY1-12" fmla="*/ 0 h 1828800"/>
                  <a:gd name="connsiteX2-13" fmla="*/ 916305 w 1828800"/>
                  <a:gd name="connsiteY2-14" fmla="*/ 913765 h 1828800"/>
                  <a:gd name="connsiteX3-15" fmla="*/ 1828800 w 1828800"/>
                  <a:gd name="connsiteY3-16" fmla="*/ 1828800 h 1828800"/>
                  <a:gd name="connsiteX4-17" fmla="*/ 0 w 1828800"/>
                  <a:gd name="connsiteY4-18" fmla="*/ 1828800 h 1828800"/>
                  <a:gd name="connsiteX0-19" fmla="*/ 0 w 1828800"/>
                  <a:gd name="connsiteY0-20" fmla="*/ 1828800 h 1828800"/>
                  <a:gd name="connsiteX1-21" fmla="*/ 0 w 1828800"/>
                  <a:gd name="connsiteY1-22" fmla="*/ 0 h 1828800"/>
                  <a:gd name="connsiteX2-23" fmla="*/ 293370 w 1828800"/>
                  <a:gd name="connsiteY2-24" fmla="*/ 1538605 h 1828800"/>
                  <a:gd name="connsiteX3-25" fmla="*/ 1828800 w 1828800"/>
                  <a:gd name="connsiteY3-26" fmla="*/ 1828800 h 1828800"/>
                  <a:gd name="connsiteX4-27" fmla="*/ 0 w 1828800"/>
                  <a:gd name="connsiteY4-28" fmla="*/ 1828800 h 18288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1828800" h="1828800">
                    <a:moveTo>
                      <a:pt x="0" y="1828800"/>
                    </a:moveTo>
                    <a:lnTo>
                      <a:pt x="0" y="0"/>
                    </a:lnTo>
                    <a:lnTo>
                      <a:pt x="293370" y="1538605"/>
                    </a:lnTo>
                    <a:lnTo>
                      <a:pt x="182880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grpFill/>
              <a:ln w="635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9200000" scaled="0"/>
                </a:gradFill>
              </a:ln>
              <a:effectLst>
                <a:outerShdw blurRad="152400" algn="ctr" rotWithShape="0">
                  <a:schemeClr val="accent1">
                    <a:lumMod val="60000"/>
                    <a:lumOff val="40000"/>
                    <a:alpha val="7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5086985" y="2929529"/>
            <a:ext cx="2600960" cy="337196"/>
            <a:chOff x="2083" y="2022"/>
            <a:chExt cx="4361" cy="673"/>
          </a:xfrm>
        </p:grpSpPr>
        <p:sp>
          <p:nvSpPr>
            <p:cNvPr id="67" name="矩形: 圆角 3"/>
            <p:cNvSpPr/>
            <p:nvPr/>
          </p:nvSpPr>
          <p:spPr>
            <a:xfrm>
              <a:off x="2083" y="2103"/>
              <a:ext cx="4361" cy="519"/>
            </a:xfrm>
            <a:prstGeom prst="roundRect">
              <a:avLst>
                <a:gd name="adj" fmla="val 50000"/>
              </a:avLst>
            </a:prstGeom>
            <a:gradFill>
              <a:gsLst>
                <a:gs pos="52000">
                  <a:srgbClr val="00E2FF"/>
                </a:gs>
                <a:gs pos="27000">
                  <a:srgbClr val="01A6FF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</a:gradFill>
            <a:ln w="37516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10800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+mn-cs"/>
              </a:endParaRPr>
            </a:p>
          </p:txBody>
        </p:sp>
        <p:sp>
          <p:nvSpPr>
            <p:cNvPr id="68" name="PA-矩形 181"/>
            <p:cNvSpPr/>
            <p:nvPr>
              <p:custDataLst>
                <p:tags r:id="rId1"/>
              </p:custDataLst>
            </p:nvPr>
          </p:nvSpPr>
          <p:spPr>
            <a:xfrm>
              <a:off x="2394" y="2022"/>
              <a:ext cx="3878" cy="673"/>
            </a:xfrm>
            <a:prstGeom prst="rect">
              <a:avLst/>
            </a:prstGeom>
          </p:spPr>
          <p:txBody>
            <a:bodyPr wrap="square" anchor="ctr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+mn-cs"/>
                  <a:sym typeface="OPPOSans H" panose="00020600040101010101" pitchFamily="18" charset="-122"/>
                </a:rPr>
                <a:t>项目亮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+mn-cs"/>
                  <a:sym typeface="OPPOSans H" panose="00020600040101010101" pitchFamily="18" charset="-122"/>
                </a:rPr>
                <a:t>点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+mn-cs"/>
                <a:sym typeface="OPPOSans H" panose="00020600040101010101" pitchFamily="18" charset="-122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4293870" y="3264535"/>
            <a:ext cx="4113530" cy="1525270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marL="215900" marR="0" lvl="0" indent="-215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支持文字和语音输入，操作灵活优势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15900" marR="0" lvl="0" indent="-215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分类与消费分析，减少手动操作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15900" marR="0" lvl="0" indent="-215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可视化统计，快速掌握财务状况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15900" marR="0" lvl="0" indent="-215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用户可修改编辑，保证数据准确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 descr="文字输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10" y="1649730"/>
            <a:ext cx="414655" cy="414655"/>
          </a:xfrm>
          <a:prstGeom prst="rect">
            <a:avLst/>
          </a:prstGeom>
        </p:spPr>
      </p:pic>
      <p:pic>
        <p:nvPicPr>
          <p:cNvPr id="23" name="图片 22" descr="后端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765" y="1624965"/>
            <a:ext cx="491490" cy="491490"/>
          </a:xfrm>
          <a:prstGeom prst="rect">
            <a:avLst/>
          </a:prstGeom>
        </p:spPr>
      </p:pic>
      <p:pic>
        <p:nvPicPr>
          <p:cNvPr id="30" name="图片 29" descr="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960" y="1665605"/>
            <a:ext cx="399415" cy="399415"/>
          </a:xfrm>
          <a:prstGeom prst="rect">
            <a:avLst/>
          </a:prstGeom>
        </p:spPr>
      </p:pic>
      <p:pic>
        <p:nvPicPr>
          <p:cNvPr id="32" name="图片 31" descr="数据库,数据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660" y="1649730"/>
            <a:ext cx="415290" cy="415290"/>
          </a:xfrm>
          <a:prstGeom prst="rect">
            <a:avLst/>
          </a:prstGeom>
        </p:spPr>
      </p:pic>
      <p:pic>
        <p:nvPicPr>
          <p:cNvPr id="40" name="图片 39" descr="3-1可视化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660" y="1670050"/>
            <a:ext cx="445770" cy="440690"/>
          </a:xfrm>
          <a:prstGeom prst="rect">
            <a:avLst/>
          </a:prstGeom>
        </p:spPr>
      </p:pic>
      <p:pic>
        <p:nvPicPr>
          <p:cNvPr id="46" name="图片 45" descr="话筒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75" y="3561715"/>
            <a:ext cx="467360" cy="467360"/>
          </a:xfrm>
          <a:prstGeom prst="rect">
            <a:avLst/>
          </a:prstGeom>
        </p:spPr>
      </p:pic>
      <p:pic>
        <p:nvPicPr>
          <p:cNvPr id="47" name="图片 46" descr="文字识别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6925" y="3590290"/>
            <a:ext cx="403225" cy="403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16129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后端接口</a:t>
            </a:r>
          </a:p>
        </p:txBody>
      </p:sp>
      <p:sp>
        <p:nvSpPr>
          <p:cNvPr id="32" name="Rounded Rectangle 4"/>
          <p:cNvSpPr/>
          <p:nvPr/>
        </p:nvSpPr>
        <p:spPr>
          <a:xfrm>
            <a:off x="228600" y="751205"/>
            <a:ext cx="2743200" cy="13112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Rounded Rectangle 6"/>
          <p:cNvSpPr/>
          <p:nvPr/>
        </p:nvSpPr>
        <p:spPr>
          <a:xfrm>
            <a:off x="365760" y="880872"/>
            <a:ext cx="502920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34" name="TextBox 7"/>
          <p:cNvSpPr txBox="1"/>
          <p:nvPr/>
        </p:nvSpPr>
        <p:spPr>
          <a:xfrm>
            <a:off x="932688" y="8442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3B82F6"/>
                </a:solidFill>
                <a:latin typeface="Consolas" panose="020B0609020204030204"/>
              </a:defRPr>
            </a:pPr>
            <a:r>
              <a:t>/parse_bill</a:t>
            </a:r>
          </a:p>
        </p:txBody>
      </p:sp>
      <p:sp>
        <p:nvSpPr>
          <p:cNvPr id="35" name="TextBox 8"/>
          <p:cNvSpPr txBox="1"/>
          <p:nvPr/>
        </p:nvSpPr>
        <p:spPr>
          <a:xfrm>
            <a:off x="365760" y="10942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解析文字账单</a:t>
            </a:r>
          </a:p>
        </p:txBody>
      </p:sp>
      <p:sp>
        <p:nvSpPr>
          <p:cNvPr id="42" name="Rounded Rectangle 15"/>
          <p:cNvSpPr/>
          <p:nvPr/>
        </p:nvSpPr>
        <p:spPr>
          <a:xfrm>
            <a:off x="228600" y="2162810"/>
            <a:ext cx="2743200" cy="12477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3" name="Rounded Rectangle 17"/>
          <p:cNvSpPr/>
          <p:nvPr/>
        </p:nvSpPr>
        <p:spPr>
          <a:xfrm>
            <a:off x="365760" y="2251456"/>
            <a:ext cx="502920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4" name="TextBox 18"/>
          <p:cNvSpPr txBox="1"/>
          <p:nvPr/>
        </p:nvSpPr>
        <p:spPr>
          <a:xfrm>
            <a:off x="932688" y="2214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10B981"/>
                </a:solidFill>
                <a:latin typeface="Consolas" panose="020B0609020204030204"/>
              </a:defRPr>
            </a:pPr>
            <a:r>
              <a:t>/speech_to_text</a:t>
            </a:r>
          </a:p>
        </p:txBody>
      </p:sp>
      <p:sp>
        <p:nvSpPr>
          <p:cNvPr id="45" name="TextBox 19"/>
          <p:cNvSpPr txBox="1"/>
          <p:nvPr/>
        </p:nvSpPr>
        <p:spPr>
          <a:xfrm>
            <a:off x="365760" y="24922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语音转文字</a:t>
            </a:r>
          </a:p>
        </p:txBody>
      </p:sp>
      <p:sp>
        <p:nvSpPr>
          <p:cNvPr id="46" name="Oval 20"/>
          <p:cNvSpPr/>
          <p:nvPr/>
        </p:nvSpPr>
        <p:spPr>
          <a:xfrm>
            <a:off x="384048" y="2797048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7" name="TextBox 21"/>
          <p:cNvSpPr txBox="1"/>
          <p:nvPr/>
        </p:nvSpPr>
        <p:spPr>
          <a:xfrm>
            <a:off x="502920" y="270967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接收小程序录音文件</a:t>
            </a:r>
          </a:p>
        </p:txBody>
      </p:sp>
      <p:sp>
        <p:nvSpPr>
          <p:cNvPr id="48" name="Oval 22"/>
          <p:cNvSpPr/>
          <p:nvPr/>
        </p:nvSpPr>
        <p:spPr>
          <a:xfrm>
            <a:off x="384048" y="2998216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9" name="TextBox 23"/>
          <p:cNvSpPr txBox="1"/>
          <p:nvPr/>
        </p:nvSpPr>
        <p:spPr>
          <a:xfrm>
            <a:off x="502920" y="2910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转码与格式适配</a:t>
            </a:r>
          </a:p>
        </p:txBody>
      </p:sp>
      <p:sp>
        <p:nvSpPr>
          <p:cNvPr id="50" name="Oval 24"/>
          <p:cNvSpPr/>
          <p:nvPr/>
        </p:nvSpPr>
        <p:spPr>
          <a:xfrm>
            <a:off x="384048" y="3199384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1" name="TextBox 25"/>
          <p:cNvSpPr txBox="1"/>
          <p:nvPr/>
        </p:nvSpPr>
        <p:spPr>
          <a:xfrm>
            <a:off x="502920" y="311200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调用百度语音识别</a:t>
            </a:r>
          </a:p>
        </p:txBody>
      </p:sp>
      <p:sp>
        <p:nvSpPr>
          <p:cNvPr id="52" name="Rounded Rectangle 26"/>
          <p:cNvSpPr/>
          <p:nvPr/>
        </p:nvSpPr>
        <p:spPr>
          <a:xfrm>
            <a:off x="228600" y="3520440"/>
            <a:ext cx="2743200" cy="12795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3" name="Rounded Rectangle 28"/>
          <p:cNvSpPr/>
          <p:nvPr/>
        </p:nvSpPr>
        <p:spPr>
          <a:xfrm>
            <a:off x="365760" y="3589527"/>
            <a:ext cx="502920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4" name="TextBox 29"/>
          <p:cNvSpPr txBox="1"/>
          <p:nvPr/>
        </p:nvSpPr>
        <p:spPr>
          <a:xfrm>
            <a:off x="932688" y="35529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8B5CF6"/>
                </a:solidFill>
                <a:latin typeface="Consolas" panose="020B0609020204030204"/>
              </a:defRPr>
            </a:pPr>
            <a:r>
              <a:t>/analyze_bills</a:t>
            </a:r>
          </a:p>
        </p:txBody>
      </p:sp>
      <p:sp>
        <p:nvSpPr>
          <p:cNvPr id="55" name="TextBox 30"/>
          <p:cNvSpPr txBox="1"/>
          <p:nvPr/>
        </p:nvSpPr>
        <p:spPr>
          <a:xfrm>
            <a:off x="365760" y="38232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生成 AI 消费分析与建议</a:t>
            </a:r>
          </a:p>
        </p:txBody>
      </p:sp>
      <p:sp>
        <p:nvSpPr>
          <p:cNvPr id="56" name="Oval 31"/>
          <p:cNvSpPr/>
          <p:nvPr/>
        </p:nvSpPr>
        <p:spPr>
          <a:xfrm>
            <a:off x="384048" y="4107688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7" name="TextBox 32"/>
          <p:cNvSpPr txBox="1"/>
          <p:nvPr/>
        </p:nvSpPr>
        <p:spPr>
          <a:xfrm>
            <a:off x="502920" y="404063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统计总支出、账单数量、分类</a:t>
            </a:r>
          </a:p>
        </p:txBody>
      </p:sp>
      <p:sp>
        <p:nvSpPr>
          <p:cNvPr id="58" name="Oval 33"/>
          <p:cNvSpPr/>
          <p:nvPr/>
        </p:nvSpPr>
        <p:spPr>
          <a:xfrm>
            <a:off x="384048" y="4308856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9" name="TextBox 34"/>
          <p:cNvSpPr txBox="1"/>
          <p:nvPr/>
        </p:nvSpPr>
        <p:spPr>
          <a:xfrm>
            <a:off x="502920" y="42418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调用大模型生成分析</a:t>
            </a:r>
          </a:p>
        </p:txBody>
      </p:sp>
      <p:sp>
        <p:nvSpPr>
          <p:cNvPr id="60" name="Oval 35"/>
          <p:cNvSpPr/>
          <p:nvPr/>
        </p:nvSpPr>
        <p:spPr>
          <a:xfrm>
            <a:off x="384048" y="4510024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37"/>
          <p:cNvSpPr txBox="1"/>
          <p:nvPr/>
        </p:nvSpPr>
        <p:spPr>
          <a:xfrm>
            <a:off x="3200400" y="568960"/>
            <a:ext cx="56692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800">
                <a:latin typeface="Consolas" panose="020B0609020204030204" charset="0"/>
                <a:cs typeface="Consolas" panose="020B0609020204030204" charset="0"/>
              </a:rPr>
              <a:t>/parse_bill</a:t>
            </a:r>
            <a:r>
              <a:rPr sz="1800"/>
              <a:t>  示例</a:t>
            </a:r>
            <a:endParaRPr sz="1800"/>
          </a:p>
        </p:txBody>
      </p:sp>
      <p:sp>
        <p:nvSpPr>
          <p:cNvPr id="62" name="Rounded Rectangle 38"/>
          <p:cNvSpPr/>
          <p:nvPr/>
        </p:nvSpPr>
        <p:spPr>
          <a:xfrm>
            <a:off x="3200400" y="132588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Rounded Rectangle 41"/>
          <p:cNvSpPr/>
          <p:nvPr/>
        </p:nvSpPr>
        <p:spPr>
          <a:xfrm>
            <a:off x="3337560" y="1617980"/>
            <a:ext cx="2468880" cy="1555115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6" name="TextBox 42"/>
          <p:cNvSpPr txBox="1"/>
          <p:nvPr/>
        </p:nvSpPr>
        <p:spPr>
          <a:xfrm>
            <a:off x="3456432" y="18288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{</a:t>
            </a:r>
            <a:br/>
            <a:r>
              <a:t>  "text": "酸菜鱼30元"</a:t>
            </a:r>
            <a:br/>
            <a:r>
              <a:t>}</a:t>
            </a:r>
          </a:p>
        </p:txBody>
      </p:sp>
      <p:sp>
        <p:nvSpPr>
          <p:cNvPr id="67" name="Right Arrow 43"/>
          <p:cNvSpPr/>
          <p:nvPr/>
        </p:nvSpPr>
        <p:spPr>
          <a:xfrm>
            <a:off x="5989320" y="2148840"/>
            <a:ext cx="22860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8" name="Rounded Rectangle 44"/>
          <p:cNvSpPr/>
          <p:nvPr/>
        </p:nvSpPr>
        <p:spPr>
          <a:xfrm>
            <a:off x="6263640" y="132588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1" name="Rounded Rectangle 47"/>
          <p:cNvSpPr/>
          <p:nvPr/>
        </p:nvSpPr>
        <p:spPr>
          <a:xfrm>
            <a:off x="6400800" y="1628140"/>
            <a:ext cx="2468880" cy="1544955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TextBox 48"/>
          <p:cNvSpPr txBox="1"/>
          <p:nvPr/>
        </p:nvSpPr>
        <p:spPr>
          <a:xfrm>
            <a:off x="6510528" y="17068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50" b="0">
                <a:solidFill>
                  <a:srgbClr val="E2E8F0"/>
                </a:solidFill>
                <a:latin typeface="Consolas" panose="020B0609020204030204"/>
              </a:defRPr>
            </a:pPr>
            <a:r>
              <a:t>{</a:t>
            </a:r>
            <a:br/>
            <a:r>
              <a:t>  "success": true,</a:t>
            </a:r>
            <a:br/>
            <a:r>
              <a:t>  "data": {</a:t>
            </a:r>
            <a:br/>
            <a:r>
              <a:t>    "type": "支出",</a:t>
            </a:r>
            <a:br/>
            <a:r>
              <a:t>    "amount": 30,</a:t>
            </a:r>
            <a:br/>
            <a:r>
              <a:t>    "category": "餐饮",</a:t>
            </a:r>
            <a:br/>
            <a:r>
              <a:t>    "remark": "酸菜鱼"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3" name="Rounded Rectangle 49"/>
          <p:cNvSpPr/>
          <p:nvPr/>
        </p:nvSpPr>
        <p:spPr>
          <a:xfrm>
            <a:off x="3200400" y="3520440"/>
            <a:ext cx="5806440" cy="127381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4" name="TextBox 50"/>
          <p:cNvSpPr txBox="1"/>
          <p:nvPr/>
        </p:nvSpPr>
        <p:spPr>
          <a:xfrm>
            <a:off x="3337560" y="3620770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2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rPr sz="1400"/>
              <a:t>接口能力说明</a:t>
            </a:r>
            <a:endParaRPr sz="1400"/>
          </a:p>
        </p:txBody>
      </p:sp>
      <p:sp>
        <p:nvSpPr>
          <p:cNvPr id="75" name="Oval 51"/>
          <p:cNvSpPr/>
          <p:nvPr/>
        </p:nvSpPr>
        <p:spPr>
          <a:xfrm>
            <a:off x="3337560" y="401701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6" name="TextBox 52"/>
          <p:cNvSpPr txBox="1"/>
          <p:nvPr/>
        </p:nvSpPr>
        <p:spPr>
          <a:xfrm>
            <a:off x="3593592" y="398957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0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金额提取</a:t>
            </a:r>
          </a:p>
        </p:txBody>
      </p:sp>
      <p:sp>
        <p:nvSpPr>
          <p:cNvPr id="77" name="TextBox 53"/>
          <p:cNvSpPr txBox="1"/>
          <p:nvPr/>
        </p:nvSpPr>
        <p:spPr>
          <a:xfrm>
            <a:off x="3593465" y="4227195"/>
            <a:ext cx="137287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支持阿拉伯数字和中文数字金额提取</a:t>
            </a:r>
            <a:endParaRPr sz="1000"/>
          </a:p>
        </p:txBody>
      </p:sp>
      <p:sp>
        <p:nvSpPr>
          <p:cNvPr id="78" name="Oval 54"/>
          <p:cNvSpPr/>
          <p:nvPr/>
        </p:nvSpPr>
        <p:spPr>
          <a:xfrm>
            <a:off x="5212079" y="401701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9" name="TextBox 55"/>
          <p:cNvSpPr txBox="1"/>
          <p:nvPr/>
        </p:nvSpPr>
        <p:spPr>
          <a:xfrm>
            <a:off x="5468111" y="398957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0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AI 智能分类</a:t>
            </a:r>
          </a:p>
        </p:txBody>
      </p:sp>
      <p:sp>
        <p:nvSpPr>
          <p:cNvPr id="80" name="TextBox 56"/>
          <p:cNvSpPr txBox="1"/>
          <p:nvPr/>
        </p:nvSpPr>
        <p:spPr>
          <a:xfrm>
            <a:off x="5468111" y="4227322"/>
            <a:ext cx="155448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调用百炼大模型</a:t>
            </a:r>
            <a:r>
              <a:rPr lang="zh-CN" altLang="en-US" sz="1000"/>
              <a:t>生成自然语言分析</a:t>
            </a:r>
            <a:endParaRPr lang="zh-CN" altLang="en-US" sz="1000"/>
          </a:p>
        </p:txBody>
      </p:sp>
      <p:sp>
        <p:nvSpPr>
          <p:cNvPr id="81" name="Oval 57"/>
          <p:cNvSpPr/>
          <p:nvPr/>
        </p:nvSpPr>
        <p:spPr>
          <a:xfrm>
            <a:off x="7086600" y="401701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2" name="TextBox 58"/>
          <p:cNvSpPr txBox="1"/>
          <p:nvPr/>
        </p:nvSpPr>
        <p:spPr>
          <a:xfrm>
            <a:off x="7342632" y="398957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0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回退机制</a:t>
            </a:r>
          </a:p>
        </p:txBody>
      </p:sp>
      <p:sp>
        <p:nvSpPr>
          <p:cNvPr id="83" name="TextBox 59"/>
          <p:cNvSpPr txBox="1"/>
          <p:nvPr/>
        </p:nvSpPr>
        <p:spPr>
          <a:xfrm>
            <a:off x="7342632" y="4227322"/>
            <a:ext cx="155448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000"/>
              <a:t>AI 失败时自动切换到规则分类</a:t>
            </a:r>
            <a:endParaRPr sz="1000"/>
          </a:p>
        </p:txBody>
      </p:sp>
      <p:sp>
        <p:nvSpPr>
          <p:cNvPr id="86" name="Oval 9"/>
          <p:cNvSpPr/>
          <p:nvPr/>
        </p:nvSpPr>
        <p:spPr>
          <a:xfrm>
            <a:off x="384048" y="1412240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7" name="TextBox 10"/>
          <p:cNvSpPr txBox="1"/>
          <p:nvPr/>
        </p:nvSpPr>
        <p:spPr>
          <a:xfrm>
            <a:off x="502920" y="130962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支持阿拉伯/中文数字</a:t>
            </a:r>
          </a:p>
        </p:txBody>
      </p:sp>
      <p:sp>
        <p:nvSpPr>
          <p:cNvPr id="88" name="Oval 11"/>
          <p:cNvSpPr/>
          <p:nvPr/>
        </p:nvSpPr>
        <p:spPr>
          <a:xfrm>
            <a:off x="384048" y="1613408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9" name="TextBox 12"/>
          <p:cNvSpPr txBox="1"/>
          <p:nvPr/>
        </p:nvSpPr>
        <p:spPr>
          <a:xfrm>
            <a:off x="502920" y="151079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支持 AI 分类</a:t>
            </a:r>
          </a:p>
        </p:txBody>
      </p:sp>
      <p:sp>
        <p:nvSpPr>
          <p:cNvPr id="90" name="Oval 13"/>
          <p:cNvSpPr/>
          <p:nvPr/>
        </p:nvSpPr>
        <p:spPr>
          <a:xfrm>
            <a:off x="384048" y="1814576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1" name="TextBox 14"/>
          <p:cNvSpPr txBox="1"/>
          <p:nvPr/>
        </p:nvSpPr>
        <p:spPr>
          <a:xfrm>
            <a:off x="502920" y="1711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AI 失败时规则回退</a:t>
            </a:r>
          </a:p>
        </p:txBody>
      </p:sp>
      <p:sp>
        <p:nvSpPr>
          <p:cNvPr id="92" name="TextBox 36"/>
          <p:cNvSpPr txBox="1"/>
          <p:nvPr/>
        </p:nvSpPr>
        <p:spPr>
          <a:xfrm>
            <a:off x="502920" y="44531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异常时回退基础模板</a:t>
            </a:r>
          </a:p>
        </p:txBody>
      </p:sp>
      <p:sp>
        <p:nvSpPr>
          <p:cNvPr id="93" name="六边形 92"/>
          <p:cNvSpPr/>
          <p:nvPr>
            <p:custDataLst>
              <p:tags r:id="rId1"/>
            </p:custDataLst>
          </p:nvPr>
        </p:nvSpPr>
        <p:spPr>
          <a:xfrm>
            <a:off x="3837305" y="1148715"/>
            <a:ext cx="1564005" cy="361950"/>
          </a:xfrm>
          <a:prstGeom prst="hexagon">
            <a:avLst>
              <a:gd name="adj" fmla="val 35568"/>
              <a:gd name="vf" fmla="val 11547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64" name="TextBox 40"/>
          <p:cNvSpPr txBox="1"/>
          <p:nvPr/>
        </p:nvSpPr>
        <p:spPr>
          <a:xfrm>
            <a:off x="3225800" y="118491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📤 请求 Request</a:t>
            </a:r>
          </a:p>
        </p:txBody>
      </p:sp>
      <p:sp>
        <p:nvSpPr>
          <p:cNvPr id="96" name="六边形 95"/>
          <p:cNvSpPr/>
          <p:nvPr>
            <p:custDataLst>
              <p:tags r:id="rId2"/>
            </p:custDataLst>
          </p:nvPr>
        </p:nvSpPr>
        <p:spPr>
          <a:xfrm>
            <a:off x="6871970" y="1148715"/>
            <a:ext cx="1564005" cy="361950"/>
          </a:xfrm>
          <a:prstGeom prst="hexagon">
            <a:avLst>
              <a:gd name="adj" fmla="val 35568"/>
              <a:gd name="vf" fmla="val 11547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70" name="TextBox 46"/>
          <p:cNvSpPr txBox="1"/>
          <p:nvPr/>
        </p:nvSpPr>
        <p:spPr>
          <a:xfrm>
            <a:off x="6283960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📥 响应 Response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37674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功能展示 - 首页与记账</a:t>
            </a:r>
          </a:p>
        </p:txBody>
      </p:sp>
      <p:pic>
        <p:nvPicPr>
          <p:cNvPr id="5" name="Picture 4" descr="微信图片_2026-05-22_161410_38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03905" y="1036320"/>
            <a:ext cx="1614805" cy="3405505"/>
          </a:xfrm>
          <a:prstGeom prst="rect">
            <a:avLst/>
          </a:prstGeom>
        </p:spPr>
      </p:pic>
      <p:sp>
        <p:nvSpPr>
          <p:cNvPr id="9" name="Rounded Rectangle 4"/>
          <p:cNvSpPr/>
          <p:nvPr>
            <p:custDataLst>
              <p:tags r:id="rId3"/>
            </p:custDataLst>
          </p:nvPr>
        </p:nvSpPr>
        <p:spPr>
          <a:xfrm>
            <a:off x="274320" y="960120"/>
            <a:ext cx="2743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" name="TextBox 5"/>
          <p:cNvSpPr txBox="1"/>
          <p:nvPr>
            <p:custDataLst>
              <p:tags r:id="rId4"/>
            </p:custDataLst>
          </p:nvPr>
        </p:nvSpPr>
        <p:spPr>
          <a:xfrm>
            <a:off x="457200" y="1097280"/>
            <a:ext cx="23774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rPr lang="zh-CN"/>
              <a:t>文字</a:t>
            </a:r>
            <a:r>
              <a:rPr lang="zh-CN"/>
              <a:t>记账</a:t>
            </a:r>
            <a:endParaRPr lang="zh-CN"/>
          </a:p>
        </p:txBody>
      </p:sp>
      <p:sp>
        <p:nvSpPr>
          <p:cNvPr id="11" name="TextBox 6"/>
          <p:cNvSpPr txBox="1"/>
          <p:nvPr>
            <p:custDataLst>
              <p:tags r:id="rId5"/>
            </p:custDataLst>
          </p:nvPr>
        </p:nvSpPr>
        <p:spPr>
          <a:xfrm>
            <a:off x="457200" y="1463040"/>
            <a:ext cx="2377440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200" b="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输入自然语言如"蜜雪冰城6元"，系统自动解析金额、分类和备注。</a:t>
            </a:r>
            <a:endParaRPr>
              <a:sym typeface="+mn-ea"/>
            </a:endParaRPr>
          </a:p>
        </p:txBody>
      </p:sp>
      <p:sp>
        <p:nvSpPr>
          <p:cNvPr id="12" name="TextBox 7"/>
          <p:cNvSpPr txBox="1"/>
          <p:nvPr>
            <p:custDataLst>
              <p:tags r:id="rId6"/>
            </p:custDataLst>
          </p:nvPr>
        </p:nvSpPr>
        <p:spPr>
          <a:xfrm>
            <a:off x="457200" y="2082800"/>
            <a:ext cx="23774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rPr lang="zh-CN"/>
              <a:t>语音</a:t>
            </a:r>
            <a:r>
              <a:t>记账</a:t>
            </a:r>
          </a:p>
        </p:txBody>
      </p:sp>
      <p:sp>
        <p:nvSpPr>
          <p:cNvPr id="13" name="TextBox 8"/>
          <p:cNvSpPr txBox="1"/>
          <p:nvPr>
            <p:custDataLst>
              <p:tags r:id="rId7"/>
            </p:custDataLst>
          </p:nvPr>
        </p:nvSpPr>
        <p:spPr>
          <a:xfrm>
            <a:off x="457200" y="2448560"/>
            <a:ext cx="2377440" cy="6623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>
              <a:defRPr sz="1200" b="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zh-CN"/>
              <a:t>点击开始录音，说出消费内容后结束录音，最后识别录音，即可</a:t>
            </a:r>
            <a:r>
              <a:rPr>
                <a:sym typeface="+mn-ea"/>
              </a:rPr>
              <a:t>自动进入解析流程</a:t>
            </a:r>
            <a:endParaRPr>
              <a:sym typeface="+mn-ea"/>
            </a:endParaRPr>
          </a:p>
          <a:p>
            <a:pPr algn="l">
              <a:defRPr sz="1200" b="0">
                <a:solidFill>
                  <a:srgbClr val="2D3748"/>
                </a:solidFill>
                <a:latin typeface="微软雅黑" panose="020B0503020204020204" charset="-122"/>
              </a:defRPr>
            </a:pPr>
            <a:endParaRPr lang="zh-CN"/>
          </a:p>
        </p:txBody>
      </p:sp>
      <p:sp>
        <p:nvSpPr>
          <p:cNvPr id="14" name="TextBox 9"/>
          <p:cNvSpPr txBox="1"/>
          <p:nvPr>
            <p:custDataLst>
              <p:tags r:id="rId8"/>
            </p:custDataLst>
          </p:nvPr>
        </p:nvSpPr>
        <p:spPr>
          <a:xfrm>
            <a:off x="457200" y="3241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t>解析结果</a:t>
            </a:r>
          </a:p>
        </p:txBody>
      </p:sp>
      <p:sp>
        <p:nvSpPr>
          <p:cNvPr id="15" name="TextBox 10"/>
          <p:cNvSpPr txBox="1"/>
          <p:nvPr>
            <p:custDataLst>
              <p:tags r:id="rId9"/>
            </p:custDataLst>
          </p:nvPr>
        </p:nvSpPr>
        <p:spPr>
          <a:xfrm>
            <a:off x="457200" y="3606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200" b="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返回类型、金额、分类和备注，用户确认后可保存账单。</a:t>
            </a:r>
          </a:p>
        </p:txBody>
      </p:sp>
      <p:pic>
        <p:nvPicPr>
          <p:cNvPr id="16" name="图片 15" descr="微信图片_2026-05-22_161432_6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9710" y="1043305"/>
            <a:ext cx="1597025" cy="3392805"/>
          </a:xfrm>
          <a:prstGeom prst="rect">
            <a:avLst/>
          </a:prstGeom>
        </p:spPr>
      </p:pic>
      <p:pic>
        <p:nvPicPr>
          <p:cNvPr id="17" name="Picture 8" descr="3778405-20260424113624989-188033300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7405" y="1010920"/>
            <a:ext cx="1525905" cy="3430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34099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功能展示 - 账单管理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9" name="Rounded Rectangle 4"/>
          <p:cNvSpPr/>
          <p:nvPr/>
        </p:nvSpPr>
        <p:spPr>
          <a:xfrm>
            <a:off x="274320" y="960120"/>
            <a:ext cx="2611755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" name="TextBox 5"/>
          <p:cNvSpPr txBox="1"/>
          <p:nvPr/>
        </p:nvSpPr>
        <p:spPr>
          <a:xfrm>
            <a:off x="457200" y="1097280"/>
            <a:ext cx="256032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rPr sz="2000">
                <a:sym typeface="+mn-ea"/>
              </a:rPr>
              <a:t>账单管理功能</a:t>
            </a:r>
            <a:endParaRPr sz="2000">
              <a:sym typeface="+mn-ea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457200" y="1508760"/>
            <a:ext cx="2245995" cy="1691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en-US">
                <a:sym typeface="+mn-ea"/>
              </a:rPr>
              <a:t>1.</a:t>
            </a:r>
            <a:r>
              <a:rPr>
                <a:sym typeface="+mn-ea"/>
              </a:rPr>
              <a:t>首页展示最近 3 条账单，便于快速查看最新记录</a:t>
            </a:r>
            <a:endParaRPr>
              <a:sym typeface="+mn-ea"/>
            </a:endParaRPr>
          </a:p>
          <a:p>
            <a:pPr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endParaRPr>
              <a:sym typeface="+mn-ea"/>
            </a:endParaRPr>
          </a:p>
          <a:p>
            <a:pPr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en-US">
                <a:sym typeface="+mn-ea"/>
              </a:rPr>
              <a:t>2.</a:t>
            </a:r>
            <a:r>
              <a:rPr>
                <a:sym typeface="+mn-ea"/>
              </a:rPr>
              <a:t>账单列表页支持查看全部账单，每条可编辑或删除</a:t>
            </a:r>
            <a:endParaRPr>
              <a:sym typeface="+mn-ea"/>
            </a:endParaRPr>
          </a:p>
          <a:p>
            <a:pPr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endParaRPr>
              <a:sym typeface="+mn-ea"/>
            </a:endParaRPr>
          </a:p>
          <a:p>
            <a:pPr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en-US">
                <a:sym typeface="+mn-ea"/>
              </a:rPr>
              <a:t>3.</a:t>
            </a:r>
            <a:r>
              <a:rPr>
                <a:sym typeface="+mn-ea"/>
              </a:rPr>
              <a:t>删除前弹出确认框，防止误操作</a:t>
            </a:r>
            <a:endParaRPr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260" y="1107440"/>
            <a:ext cx="1563370" cy="3517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1107440"/>
            <a:ext cx="1673860" cy="3504565"/>
          </a:xfrm>
          <a:prstGeom prst="rect">
            <a:avLst/>
          </a:prstGeom>
        </p:spPr>
      </p:pic>
      <p:pic>
        <p:nvPicPr>
          <p:cNvPr id="16" name="Picture 8" descr="3778405-20260424113817244-2689716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185" y="1135380"/>
            <a:ext cx="1524635" cy="3429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48691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功能展示 - 消费</a:t>
            </a:r>
            <a:r>
              <a:rPr lang="zh-CN"/>
              <a:t>统计与</a:t>
            </a:r>
            <a:r>
              <a:rPr lang="en-US" altLang="zh-CN"/>
              <a:t>AI</a:t>
            </a:r>
            <a:r>
              <a:rPr lang="zh-CN" altLang="en-US"/>
              <a:t>分析</a:t>
            </a:r>
            <a:endParaRPr lang="zh-CN" altLang="en-US"/>
          </a:p>
        </p:txBody>
      </p:sp>
      <p:pic>
        <p:nvPicPr>
          <p:cNvPr id="5" name="Picture 4" descr="微信图片_2026-05-22_161457_18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5035" y="880745"/>
            <a:ext cx="1771650" cy="3750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880745"/>
            <a:ext cx="277241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653" y="101790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t>消费统计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29385"/>
            <a:ext cx="2316480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总支出金额</a:t>
            </a: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账单数量统计</a:t>
            </a: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按分类汇总（餐饮/购物/交通等）</a:t>
            </a: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分类金额与占比条展示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653" y="270954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t>AI 消费分析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653" y="3121025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基于账单统计调用百炼大模型</a:t>
            </a: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生成消费结构分析</a:t>
            </a: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提供个性化消费建议</a:t>
            </a:r>
          </a:p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AI 异常时回退基础模板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730" y="880745"/>
            <a:ext cx="1675130" cy="37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232791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测试工作安排</a:t>
            </a:r>
          </a:p>
        </p:txBody>
      </p:sp>
      <p:sp>
        <p:nvSpPr>
          <p:cNvPr id="42" name="Rounded Rectangle 4"/>
          <p:cNvSpPr/>
          <p:nvPr/>
        </p:nvSpPr>
        <p:spPr>
          <a:xfrm>
            <a:off x="457200" y="1035685"/>
            <a:ext cx="775589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4" name="文本框 33"/>
          <p:cNvSpPr txBox="1"/>
          <p:nvPr>
            <p:custDataLst>
              <p:tags r:id="rId1"/>
            </p:custDataLst>
          </p:nvPr>
        </p:nvSpPr>
        <p:spPr>
          <a:xfrm>
            <a:off x="745490" y="1187450"/>
            <a:ext cx="131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>
                <a:solidFill>
                  <a:srgbClr val="2B6CB0"/>
                </a:solidFill>
                <a:latin typeface="微软雅黑" panose="020B0503020204020204" charset="-122"/>
                <a:sym typeface="+mn-lt"/>
              </a:rPr>
              <a:t>测试目标</a:t>
            </a:r>
            <a:endParaRPr lang="zh-CN" altLang="en-US" b="1" dirty="0">
              <a:solidFill>
                <a:srgbClr val="2B6CB0"/>
              </a:solidFill>
              <a:latin typeface="微软雅黑" panose="020B0503020204020204" charset="-122"/>
              <a:ea typeface="仓耳舒圆体 W03" panose="02020400000000000000" charset="-128"/>
              <a:cs typeface="仓耳舒圆体 W03" panose="02020400000000000000" charset="-128"/>
              <a:sym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745490" y="1557020"/>
            <a:ext cx="3193415" cy="340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base">
              <a:lnSpc>
                <a:spcPts val="1950"/>
              </a:lnSpc>
              <a:spcAft>
                <a:spcPts val="600"/>
              </a:spcAft>
            </a:pPr>
            <a:r>
              <a:rPr lang="zh-CN" altLang="en-US" sz="1400" b="0" i="0" dirty="0">
                <a:effectLst/>
                <a:latin typeface="inherit"/>
              </a:rPr>
              <a:t>保证功能正确、稳定，提升使用体验</a:t>
            </a:r>
            <a:endParaRPr lang="zh-CN" altLang="en-US" sz="1400" b="0" i="0" dirty="0">
              <a:effectLst/>
              <a:latin typeface="inherit"/>
            </a:endParaRPr>
          </a:p>
        </p:txBody>
      </p:sp>
      <p:sp>
        <p:nvSpPr>
          <p:cNvPr id="37" name="文本框 36"/>
          <p:cNvSpPr txBox="1"/>
          <p:nvPr>
            <p:custDataLst>
              <p:tags r:id="rId3"/>
            </p:custDataLst>
          </p:nvPr>
        </p:nvSpPr>
        <p:spPr>
          <a:xfrm>
            <a:off x="768350" y="1946275"/>
            <a:ext cx="1282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b="1">
                <a:solidFill>
                  <a:srgbClr val="2B6CB0"/>
                </a:solidFill>
                <a:latin typeface="微软雅黑" panose="020B0503020204020204" charset="-122"/>
                <a:sym typeface="+mn-lt"/>
              </a:rPr>
              <a:t>测试范围</a:t>
            </a:r>
            <a:endParaRPr b="1">
              <a:solidFill>
                <a:srgbClr val="2B6CB0"/>
              </a:solidFill>
              <a:latin typeface="微软雅黑" panose="020B0503020204020204" charset="-122"/>
              <a:sym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751840" y="2314575"/>
            <a:ext cx="3230880" cy="1115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base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>
                <a:sym typeface="+mn-ea"/>
              </a:rPr>
              <a:t>文字记账与语音记账</a:t>
            </a:r>
            <a:endParaRPr sz="1400">
              <a:sym typeface="+mn-ea"/>
            </a:endParaRPr>
          </a:p>
          <a:p>
            <a:pPr marL="285750" indent="-285750" algn="l" fontAlgn="base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>
                <a:sym typeface="+mn-ea"/>
              </a:rPr>
              <a:t>账单增删改查操作</a:t>
            </a:r>
            <a:endParaRPr sz="1400">
              <a:sym typeface="+mn-ea"/>
            </a:endParaRPr>
          </a:p>
          <a:p>
            <a:pPr marL="285750" indent="-285750" algn="l" fontAlgn="base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>
                <a:sym typeface="+mn-ea"/>
              </a:rPr>
              <a:t>统计页总支出、分类汇总</a:t>
            </a:r>
            <a:endParaRPr sz="1400">
              <a:sym typeface="+mn-ea"/>
            </a:endParaRPr>
          </a:p>
          <a:p>
            <a:pPr marL="285750" indent="-285750" algn="l" fontAlgn="base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>
                <a:sym typeface="+mn-ea"/>
              </a:rPr>
              <a:t>AI 分类与消费分析</a:t>
            </a:r>
            <a:endParaRPr sz="1400">
              <a:sym typeface="+mn-ea"/>
            </a:endParaRPr>
          </a:p>
          <a:p>
            <a:pPr algn="l" fontAlgn="base">
              <a:lnSpc>
                <a:spcPct val="80000"/>
              </a:lnSpc>
              <a:spcAft>
                <a:spcPts val="600"/>
              </a:spcAft>
            </a:pPr>
            <a:endParaRPr sz="1400">
              <a:sym typeface="+mn-ea"/>
            </a:endParaRPr>
          </a:p>
          <a:p>
            <a:pPr algn="l" fontAlgn="base">
              <a:lnSpc>
                <a:spcPct val="80000"/>
              </a:lnSpc>
              <a:spcAft>
                <a:spcPts val="600"/>
              </a:spcAft>
            </a:pPr>
            <a:endParaRPr sz="1400">
              <a:sym typeface="+mn-ea"/>
            </a:endParaRPr>
          </a:p>
          <a:p>
            <a:pPr marL="742950" lvl="1" indent="-285750" algn="l" fontAlgn="base">
              <a:lnSpc>
                <a:spcPts val="1950"/>
              </a:lnSpc>
              <a:spcAft>
                <a:spcPts val="600"/>
              </a:spcAft>
              <a:buFont typeface="+mj-lt"/>
              <a:buAutoNum type="arabicPeriod"/>
            </a:pPr>
            <a:endParaRPr lang="en-US" altLang="zh-CN" sz="1400" dirty="0">
              <a:solidFill>
                <a:schemeClr val="tx1"/>
              </a:solidFill>
              <a:latin typeface="仓耳舒圆体 W03" panose="02020400000000000000" charset="-128"/>
              <a:ea typeface="仓耳舒圆体 W03" panose="02020400000000000000" charset="-128"/>
              <a:cs typeface="仓耳舒圆体 W03" panose="02020400000000000000" charset="-128"/>
              <a:sym typeface="+mn-ea"/>
            </a:endParaRPr>
          </a:p>
        </p:txBody>
      </p:sp>
      <p:sp>
        <p:nvSpPr>
          <p:cNvPr id="51" name="文本框 50"/>
          <p:cNvSpPr txBox="1"/>
          <p:nvPr>
            <p:custDataLst>
              <p:tags r:id="rId5"/>
            </p:custDataLst>
          </p:nvPr>
        </p:nvSpPr>
        <p:spPr>
          <a:xfrm>
            <a:off x="746125" y="3429635"/>
            <a:ext cx="131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>
                <a:solidFill>
                  <a:srgbClr val="2B6CB0"/>
                </a:solidFill>
                <a:latin typeface="微软雅黑" panose="020B0503020204020204" charset="-122"/>
                <a:sym typeface="+mn-lt"/>
              </a:rPr>
              <a:t>测试</a:t>
            </a:r>
            <a:r>
              <a:rPr lang="zh-CN" b="1">
                <a:solidFill>
                  <a:srgbClr val="2B6CB0"/>
                </a:solidFill>
                <a:latin typeface="微软雅黑" panose="020B0503020204020204" charset="-122"/>
                <a:sym typeface="+mn-lt"/>
              </a:rPr>
              <a:t>工具</a:t>
            </a:r>
            <a:endParaRPr lang="zh-CN" b="1">
              <a:solidFill>
                <a:srgbClr val="2B6CB0"/>
              </a:solidFill>
              <a:latin typeface="微软雅黑" panose="020B0503020204020204" charset="-122"/>
              <a:sym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6"/>
            </p:custDataLst>
          </p:nvPr>
        </p:nvSpPr>
        <p:spPr>
          <a:xfrm>
            <a:off x="746125" y="3799205"/>
            <a:ext cx="3228975" cy="340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base">
              <a:lnSpc>
                <a:spcPts val="1950"/>
              </a:lnSpc>
              <a:spcAft>
                <a:spcPts val="600"/>
              </a:spcAft>
            </a:pPr>
            <a:r>
              <a:rPr lang="zh-CN" altLang="en-US" sz="1400" b="0" i="0" dirty="0">
                <a:effectLst/>
                <a:latin typeface="inherit"/>
              </a:rPr>
              <a:t>微信开发者工具</a:t>
            </a:r>
            <a:r>
              <a:rPr lang="en-US" altLang="zh-CN" sz="1400" b="0" i="0" dirty="0">
                <a:effectLst/>
                <a:latin typeface="inherit"/>
              </a:rPr>
              <a:t> + </a:t>
            </a:r>
            <a:r>
              <a:rPr lang="en-US" altLang="zh-CN" sz="1400" b="0" i="0" dirty="0">
                <a:effectLst/>
                <a:latin typeface="Consolas" panose="020B0609020204030204" charset="0"/>
                <a:cs typeface="Consolas" panose="020B0609020204030204" charset="0"/>
              </a:rPr>
              <a:t>Flask</a:t>
            </a:r>
            <a:r>
              <a:rPr lang="en-US" altLang="zh-CN" sz="1400" b="0" i="0" dirty="0">
                <a:effectLst/>
                <a:latin typeface="inherit"/>
              </a:rPr>
              <a:t> </a:t>
            </a:r>
            <a:r>
              <a:rPr lang="zh-CN" altLang="en-US" sz="1400" b="0" i="0" dirty="0">
                <a:effectLst/>
                <a:latin typeface="inherit"/>
              </a:rPr>
              <a:t>控制台</a:t>
            </a:r>
            <a:endParaRPr lang="zh-CN" altLang="en-US" sz="1400" b="0" i="0" dirty="0">
              <a:effectLst/>
              <a:latin typeface="inherit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441190" y="1187450"/>
            <a:ext cx="3613150" cy="1330325"/>
            <a:chOff x="7225" y="1870"/>
            <a:chExt cx="5690" cy="2095"/>
          </a:xfrm>
        </p:grpSpPr>
        <p:sp>
          <p:nvSpPr>
            <p:cNvPr id="54" name="文本框 53"/>
            <p:cNvSpPr txBox="1"/>
            <p:nvPr>
              <p:custDataLst>
                <p:tags r:id="rId7"/>
              </p:custDataLst>
            </p:nvPr>
          </p:nvSpPr>
          <p:spPr>
            <a:xfrm>
              <a:off x="7225" y="1870"/>
              <a:ext cx="18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b="1">
                  <a:solidFill>
                    <a:srgbClr val="2B6CB0"/>
                  </a:solidFill>
                  <a:latin typeface="微软雅黑" panose="020B0503020204020204" charset="-122"/>
                  <a:sym typeface="+mn-lt"/>
                </a:rPr>
                <a:t>测试</a:t>
              </a:r>
              <a:r>
                <a:rPr lang="zh-CN" b="1">
                  <a:solidFill>
                    <a:srgbClr val="2B6CB0"/>
                  </a:solidFill>
                  <a:latin typeface="微软雅黑" panose="020B0503020204020204" charset="-122"/>
                  <a:sym typeface="+mn-lt"/>
                </a:rPr>
                <a:t>方法</a:t>
              </a:r>
              <a:endParaRPr lang="zh-CN" b="1">
                <a:solidFill>
                  <a:srgbClr val="2B6CB0"/>
                </a:solidFill>
                <a:latin typeface="微软雅黑" panose="020B0503020204020204" charset="-122"/>
                <a:sym typeface="+mn-lt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8"/>
              </p:custDataLst>
            </p:nvPr>
          </p:nvSpPr>
          <p:spPr>
            <a:xfrm>
              <a:off x="7225" y="2452"/>
              <a:ext cx="5690" cy="1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 fontAlgn="base">
                <a:lnSpc>
                  <a:spcPts val="195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sz="1400">
                  <a:sym typeface="+mn-ea"/>
                </a:rPr>
                <a:t>真机测试录音和语音识别</a:t>
              </a:r>
              <a:endParaRPr lang="zh-CN" altLang="en-US" sz="1400" b="0" i="0" dirty="0">
                <a:effectLst/>
                <a:latin typeface="inherit"/>
              </a:endParaRPr>
            </a:p>
            <a:p>
              <a:pPr marL="285750" indent="-285750" algn="l" fontAlgn="base">
                <a:lnSpc>
                  <a:spcPts val="195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sz="1400">
                  <a:sym typeface="+mn-ea"/>
                </a:rPr>
                <a:t>功能测试：增删改查、统计验证</a:t>
              </a:r>
              <a:endParaRPr sz="1400">
                <a:sym typeface="+mn-ea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  <a:defRPr sz="900" b="0">
                  <a:solidFill>
                    <a:srgbClr val="1E293B"/>
                  </a:solidFill>
                  <a:latin typeface="微软雅黑" panose="020B0503020204020204" charset="-122"/>
                </a:defRPr>
              </a:pPr>
              <a:r>
                <a:rPr sz="1400">
                  <a:sym typeface="+mn-ea"/>
                </a:rPr>
                <a:t>接口测试： API 返回验证</a:t>
              </a:r>
              <a:endParaRPr lang="zh-CN" altLang="en-US" sz="1400" b="0" i="0" dirty="0">
                <a:effectLst/>
                <a:latin typeface="inherit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441190" y="2776220"/>
            <a:ext cx="3613150" cy="1363980"/>
            <a:chOff x="7225" y="1870"/>
            <a:chExt cx="5690" cy="2148"/>
          </a:xfrm>
        </p:grpSpPr>
        <p:sp>
          <p:nvSpPr>
            <p:cNvPr id="58" name="文本框 57"/>
            <p:cNvSpPr txBox="1"/>
            <p:nvPr>
              <p:custDataLst>
                <p:tags r:id="rId9"/>
              </p:custDataLst>
            </p:nvPr>
          </p:nvSpPr>
          <p:spPr>
            <a:xfrm>
              <a:off x="7225" y="1870"/>
              <a:ext cx="18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b="1">
                  <a:solidFill>
                    <a:srgbClr val="2B6CB0"/>
                  </a:solidFill>
                  <a:latin typeface="微软雅黑" panose="020B0503020204020204" charset="-122"/>
                  <a:sym typeface="+mn-lt"/>
                </a:rPr>
                <a:t>测试</a:t>
              </a:r>
              <a:r>
                <a:rPr lang="zh-CN" b="1">
                  <a:solidFill>
                    <a:srgbClr val="2B6CB0"/>
                  </a:solidFill>
                  <a:latin typeface="微软雅黑" panose="020B0503020204020204" charset="-122"/>
                  <a:sym typeface="+mn-lt"/>
                </a:rPr>
                <a:t>结果</a:t>
              </a:r>
              <a:endParaRPr lang="zh-CN" b="1">
                <a:solidFill>
                  <a:srgbClr val="2B6CB0"/>
                </a:solidFill>
                <a:latin typeface="微软雅黑" panose="020B0503020204020204" charset="-122"/>
                <a:sym typeface="+mn-lt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10"/>
              </p:custDataLst>
            </p:nvPr>
          </p:nvSpPr>
          <p:spPr>
            <a:xfrm>
              <a:off x="7225" y="2452"/>
              <a:ext cx="5690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 fontAlgn="base">
                <a:lnSpc>
                  <a:spcPts val="195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effectLst/>
                  <a:latin typeface="inherit"/>
                </a:rPr>
                <a:t>功能闭环稳定</a:t>
              </a:r>
              <a:endParaRPr lang="zh-CN" altLang="en-US" sz="1400" b="0" i="0" dirty="0">
                <a:effectLst/>
                <a:latin typeface="inherit"/>
              </a:endParaRPr>
            </a:p>
            <a:p>
              <a:pPr marL="285750" indent="-285750" algn="l" fontAlgn="base">
                <a:lnSpc>
                  <a:spcPts val="195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sz="1400" b="0" i="0"/>
                <a:t>AI </a:t>
              </a:r>
              <a:r>
                <a:rPr lang="zh-CN" altLang="en-US" sz="1400" b="0" i="0" dirty="0">
                  <a:effectLst/>
                  <a:latin typeface="inherit"/>
                </a:rPr>
                <a:t>分类回退机制有效</a:t>
              </a:r>
              <a:endParaRPr lang="zh-CN" altLang="en-US" sz="1400" b="0" i="0" dirty="0">
                <a:effectLst/>
                <a:latin typeface="inherit"/>
              </a:endParaRPr>
            </a:p>
            <a:p>
              <a:pPr marL="285750" indent="-285750" algn="l" fontAlgn="base">
                <a:lnSpc>
                  <a:spcPts val="195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effectLst/>
                  <a:latin typeface="inherit"/>
                </a:rPr>
                <a:t>数据统计准确</a:t>
              </a:r>
              <a:endParaRPr lang="zh-CN" altLang="en-US" sz="1400" b="0" i="0" dirty="0">
                <a:effectLst/>
                <a:latin typeface="inherit"/>
              </a:endParaRPr>
            </a:p>
          </p:txBody>
        </p:sp>
      </p:grpSp>
      <p:cxnSp>
        <p:nvCxnSpPr>
          <p:cNvPr id="60" name="直接连接符 59"/>
          <p:cNvCxnSpPr/>
          <p:nvPr/>
        </p:nvCxnSpPr>
        <p:spPr>
          <a:xfrm>
            <a:off x="3975100" y="1038860"/>
            <a:ext cx="0" cy="3471545"/>
          </a:xfrm>
          <a:prstGeom prst="line">
            <a:avLst/>
          </a:prstGeom>
          <a:ln w="6350" cmpd="sng">
            <a:solidFill>
              <a:schemeClr val="accent1">
                <a:shade val="50000"/>
                <a:alpha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375793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遇到的问题与解决方案</a:t>
            </a:r>
          </a:p>
        </p:txBody>
      </p:sp>
      <p:graphicFrame>
        <p:nvGraphicFramePr>
          <p:cNvPr id="42" name="Table 4"/>
          <p:cNvGraphicFramePr>
            <a:graphicFrameLocks noGrp="1"/>
          </p:cNvGraphicFramePr>
          <p:nvPr/>
        </p:nvGraphicFramePr>
        <p:xfrm>
          <a:off x="457200" y="1021080"/>
          <a:ext cx="8321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1206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问题</a:t>
                      </a:r>
                      <a:endParaRPr sz="2000"/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解决方案</a:t>
                      </a:r>
                      <a:endParaRPr sz="2000"/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数据存储简单，无法多端同步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暂时使用本地存储，预留数据库结构（</a:t>
                      </a:r>
                      <a:r>
                        <a:rPr>
                          <a:latin typeface="Consolas" panose="020B0609020204030204" charset="0"/>
                          <a:cs typeface="Consolas" panose="020B0609020204030204" charset="0"/>
                        </a:rPr>
                        <a:t>User、Bill、AIAnalysis 表</a:t>
                      </a:r>
                      <a:r>
                        <a:t>）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AI 输出偶尔异常（JSON 格式、分类结果波动）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添加回退机制，AI 失败时自动降级到规则分类与基础分析模板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语音识别偶尔失败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真机测试优化上传与转码逻辑，确保音频格式适配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统计功能基础，无图表可视化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先支持总支出、分类汇总，后续可扩展图表和趋势分析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前后端联调复杂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采用局域网测试，固定 IP，逐步调试接口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228600"/>
            <a:ext cx="232791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成员过程体会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365760" y="985520"/>
            <a:ext cx="27432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365760" y="1228090"/>
            <a:ext cx="2743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2400"/>
              <a:t>李佳琪</a:t>
            </a:r>
            <a:endParaRPr sz="240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365760" y="1883664"/>
            <a:ext cx="2743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rPr sz="1400"/>
              <a:t>核心开发</a:t>
            </a:r>
            <a:endParaRPr sz="1400"/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1097280" y="2194560"/>
            <a:ext cx="12801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502920" y="2589530"/>
            <a:ext cx="246888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在本次项目开发过程中，我主要负责前后端开发与核心功能实现。</a:t>
            </a:r>
            <a:endParaRPr lang="zh-CN" altLang="en-US" sz="12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通过这次</a:t>
            </a:r>
            <a:r>
              <a:rPr lang="en-US" altLang="zh-CN" sz="1200">
                <a:ea typeface="微软雅黑" panose="020B0503020204020204" charset="-122"/>
                <a:cs typeface="微软雅黑" panose="020B0503020204020204" charset="-122"/>
              </a:rPr>
              <a:t> Alpha </a:t>
            </a: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冲刺，我对微信小程序开发、</a:t>
            </a:r>
            <a:r>
              <a:rPr lang="en-US" altLang="zh-CN" sz="1200">
                <a:ea typeface="微软雅黑" panose="020B0503020204020204" charset="-122"/>
                <a:cs typeface="微软雅黑" panose="020B0503020204020204" charset="-122"/>
              </a:rPr>
              <a:t>Flask </a:t>
            </a: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后端接口设计以及</a:t>
            </a:r>
            <a:r>
              <a:rPr lang="en-US" altLang="zh-CN" sz="1200"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接口调用有了更深入的理解，也提升了前后端联调和问题排查能力。</a:t>
            </a:r>
            <a:endParaRPr lang="zh-CN" altLang="en-US"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3246120" y="985520"/>
            <a:ext cx="27432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3246120" y="1228090"/>
            <a:ext cx="2743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2400"/>
              <a:t>程天润</a:t>
            </a:r>
            <a:endParaRPr sz="2400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246120" y="1883664"/>
            <a:ext cx="2743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  <a:defRPr sz="11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rPr sz="1400"/>
              <a:t>设计与测试</a:t>
            </a:r>
            <a:endParaRPr sz="1400"/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3977640" y="2194560"/>
            <a:ext cx="12801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3383280" y="2589530"/>
            <a:ext cx="246888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 altLang="en-US" sz="1200">
                <a:ea typeface="微软雅黑" panose="020B0503020204020204" charset="-122"/>
              </a:rPr>
              <a:t>我主要负责页面设计、功能测试与前端辅助开发。在开发过程中，我学习了如何优化用户交互体验，以及如何通过真机测试发现问题并进行功能完善，也进一步体会到了团队协作的重要性。</a:t>
            </a:r>
            <a:endParaRPr lang="zh-CN" altLang="en-US" sz="1200"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1"/>
            </p:custDataLst>
          </p:nvPr>
        </p:nvSpPr>
        <p:spPr>
          <a:xfrm>
            <a:off x="6126480" y="985520"/>
            <a:ext cx="27432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2"/>
            </p:custDataLst>
          </p:nvPr>
        </p:nvSpPr>
        <p:spPr>
          <a:xfrm>
            <a:off x="6126480" y="1228090"/>
            <a:ext cx="2743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2400"/>
              <a:t>莫仕明</a:t>
            </a:r>
            <a:endParaRPr sz="2400"/>
          </a:p>
        </p:txBody>
      </p:sp>
      <p:sp>
        <p:nvSpPr>
          <p:cNvPr id="25" name="TextBox 24"/>
          <p:cNvSpPr txBox="1"/>
          <p:nvPr>
            <p:custDataLst>
              <p:tags r:id="rId13"/>
            </p:custDataLst>
          </p:nvPr>
        </p:nvSpPr>
        <p:spPr>
          <a:xfrm>
            <a:off x="6126480" y="1883664"/>
            <a:ext cx="2743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  <a:defRPr sz="11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rPr sz="1400"/>
              <a:t>文档与协调</a:t>
            </a:r>
            <a:endParaRPr sz="1400"/>
          </a:p>
        </p:txBody>
      </p:sp>
      <p:sp>
        <p:nvSpPr>
          <p:cNvPr id="26" name="Rectangle 25"/>
          <p:cNvSpPr/>
          <p:nvPr>
            <p:custDataLst>
              <p:tags r:id="rId14"/>
            </p:custDataLst>
          </p:nvPr>
        </p:nvSpPr>
        <p:spPr>
          <a:xfrm>
            <a:off x="6858000" y="2194560"/>
            <a:ext cx="12801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15"/>
            </p:custDataLst>
          </p:nvPr>
        </p:nvSpPr>
        <p:spPr>
          <a:xfrm>
            <a:off x="6263640" y="2589530"/>
            <a:ext cx="246888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我主要负责需求分析、文档整理、流程图绘制以及</a:t>
            </a:r>
            <a:r>
              <a:rPr lang="en-US" altLang="zh-CN" sz="1200">
                <a:ea typeface="微软雅黑" panose="020B0503020204020204" charset="-122"/>
                <a:cs typeface="微软雅黑" panose="020B0503020204020204" charset="-122"/>
              </a:rPr>
              <a:t> PPT </a:t>
            </a: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制作。</a:t>
            </a:r>
            <a:endParaRPr lang="zh-CN" altLang="en-US" sz="12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 altLang="en-US" sz="1200">
                <a:ea typeface="微软雅黑" panose="020B0503020204020204" charset="-122"/>
                <a:cs typeface="微软雅黑" panose="020B0503020204020204" charset="-122"/>
              </a:rPr>
              <a:t>通过本次项目，我对软件工程中的团队协作、项目规划以及文档规范有了更深的认识，同时也提升了沟通与组织能力。</a:t>
            </a:r>
            <a:endParaRPr lang="zh-CN" altLang="en-US" sz="1200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71880" y="33782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30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45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  <a:latin typeface="Arial" panose="020B0604020202020204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885440"/>
            <a:ext cx="1828800" cy="274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6"/>
          <p:cNvSpPr txBox="1"/>
          <p:nvPr/>
        </p:nvSpPr>
        <p:spPr>
          <a:xfrm>
            <a:off x="457200" y="3159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团队：Code Nova  |  成员：李佳琪、程天润、莫仕明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44,&quot;left&quot;:36,&quot;top&quot;:100.8,&quot;width&quot;:655.2}"/>
</p:tagLst>
</file>

<file path=ppt/tags/tag2.xml><?xml version="1.0" encoding="utf-8"?>
<p:tagLst xmlns:p="http://schemas.openxmlformats.org/presentationml/2006/main">
  <p:tag name="KSO_WM_DIAGRAM_VIRTUALLY_FRAME" val="{&quot;height&quot;:144,&quot;left&quot;:36,&quot;top&quot;:100.8,&quot;width&quot;:655.2}"/>
</p:tagLst>
</file>

<file path=ppt/tags/tag3.xml><?xml version="1.0" encoding="utf-8"?>
<p:tagLst xmlns:p="http://schemas.openxmlformats.org/presentationml/2006/main">
  <p:tag name="KSO_WM_DIAGRAM_VIRTUALLY_FRAME" val="{&quot;height&quot;:144,&quot;left&quot;:36,&quot;top&quot;:100.8,&quot;width&quot;:655.2}"/>
</p:tagLst>
</file>

<file path=ppt/tags/tag4.xml><?xml version="1.0" encoding="utf-8"?>
<p:tagLst xmlns:p="http://schemas.openxmlformats.org/presentationml/2006/main">
  <p:tag name="PA" val="v5.2.11"/>
</p:tagLst>
</file>

<file path=ppt/tags/tag5.xml><?xml version="1.0" encoding="utf-8"?>
<p:tagLst xmlns:p="http://schemas.openxmlformats.org/presentationml/2006/main">
  <p:tag name="KSO_WM_DIAGRAM_VIRTUALLY_FRAME" val="{&quot;height&quot;:485,&quot;left&quot;:-11.55,&quot;top&quot;:74,&quot;width&quot;:1012.75}"/>
</p:tagLst>
</file>

<file path=ppt/tags/tag6.xml><?xml version="1.0" encoding="utf-8"?>
<p:tagLst xmlns:p="http://schemas.openxmlformats.org/presentationml/2006/main">
  <p:tag name="KSO_WM_DIAGRAM_VIRTUALLY_FRAME" val="{&quot;height&quot;:485,&quot;left&quot;:-11.55,&quot;top&quot;:74,&quot;width&quot;:1012.75}"/>
</p:tagLst>
</file>

<file path=ppt/tags/tag7.xml><?xml version="1.0" encoding="utf-8"?>
<p:tagLst xmlns:p="http://schemas.openxmlformats.org/presentationml/2006/main">
  <p:tag name="KSO_WM_DIAGRAM_VIRTUALLY_FRAME" val="{&quot;height&quot;:280.8,&quot;left&quot;:28.8,&quot;top&quot;:100.8,&quot;width&quot;:482.4}"/>
</p:tagLst>
</file>

<file path=ppt/tags/tag8.xml><?xml version="1.0" encoding="utf-8"?>
<p:tagLst xmlns:p="http://schemas.openxmlformats.org/presentationml/2006/main">
  <p:tag name="KSO_WM_DIAGRAM_VIRTUALLY_FRAME" val="{&quot;height&quot;:288,&quot;left&quot;:21.6,&quot;top&quot;:75.6,&quot;width&quot;:216}"/>
</p:tagLst>
</file>

<file path=ppt/tags/tag9.xml><?xml version="1.0" encoding="utf-8"?>
<p:tagLst xmlns:p="http://schemas.openxmlformats.org/presentationml/2006/main">
  <p:tag name="KSO_WM_DIAGRAM_VIRTUALLY_FRAME" val="{&quot;height&quot;:288,&quot;left&quot;:21.6,&quot;top&quot;:75.6,&quot;width&quot;:216}"/>
</p:tagLst>
</file>

<file path=ppt/tags/tag10.xml><?xml version="1.0" encoding="utf-8"?>
<p:tagLst xmlns:p="http://schemas.openxmlformats.org/presentationml/2006/main">
  <p:tag name="KSO_WM_DIAGRAM_VIRTUALLY_FRAME" val="{&quot;height&quot;:288,&quot;left&quot;:21.6,&quot;top&quot;:75.6,&quot;width&quot;:216}"/>
</p:tagLst>
</file>

<file path=ppt/tags/tag11.xml><?xml version="1.0" encoding="utf-8"?>
<p:tagLst xmlns:p="http://schemas.openxmlformats.org/presentationml/2006/main">
  <p:tag name="KSO_WM_DIAGRAM_VIRTUALLY_FRAME" val="{&quot;height&quot;:288,&quot;left&quot;:21.6,&quot;top&quot;:75.6,&quot;width&quot;:216}"/>
</p:tagLst>
</file>

<file path=ppt/tags/tag12.xml><?xml version="1.0" encoding="utf-8"?>
<p:tagLst xmlns:p="http://schemas.openxmlformats.org/presentationml/2006/main">
  <p:tag name="KSO_WM_DIAGRAM_VIRTUALLY_FRAME" val="{&quot;height&quot;:288,&quot;left&quot;:21.6,&quot;top&quot;:75.6,&quot;width&quot;:216}"/>
</p:tagLst>
</file>

<file path=ppt/tags/tag13.xml><?xml version="1.0" encoding="utf-8"?>
<p:tagLst xmlns:p="http://schemas.openxmlformats.org/presentationml/2006/main">
  <p:tag name="KSO_WM_DIAGRAM_VIRTUALLY_FRAME" val="{&quot;height&quot;:288,&quot;left&quot;:21.6,&quot;top&quot;:75.6,&quot;width&quot;:216}"/>
</p:tagLst>
</file>

<file path=ppt/tags/tag14.xml><?xml version="1.0" encoding="utf-8"?>
<p:tagLst xmlns:p="http://schemas.openxmlformats.org/presentationml/2006/main">
  <p:tag name="KSO_WM_DIAGRAM_VIRTUALLY_FRAME" val="{&quot;height&quot;:288,&quot;left&quot;:21.6,&quot;top&quot;:75.6,&quot;width&quot;:216}"/>
</p:tagLst>
</file>

<file path=ppt/tags/tag15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16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17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18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19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20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21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22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23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24.xml><?xml version="1.0" encoding="utf-8"?>
<p:tagLst xmlns:p="http://schemas.openxmlformats.org/presentationml/2006/main">
  <p:tag name="KSO_WM_DIAGRAM_VIRTUALLY_FRAME" val="{&quot;height&quot;:395.82168721008486,&quot;left&quot;:87.2,&quot;top&quot;:102.45,&quot;width&quot;:649.5544881889764}"/>
</p:tagLst>
</file>

<file path=ppt/tags/tag25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26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27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28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29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0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1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2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3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4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5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6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7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8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ags/tag39.xml><?xml version="1.0" encoding="utf-8"?>
<p:tagLst xmlns:p="http://schemas.openxmlformats.org/presentationml/2006/main">
  <p:tag name="KSO_WM_DIAGRAM_VIRTUALLY_FRAME" val="{&quot;height&quot;:277.2,&quot;left&quot;:28.8,&quot;top&quot;:77.6,&quot;width&quot;:66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2608</Words>
  <Application>WPS 演示</Application>
  <PresentationFormat>On-screen Show (4:3)</PresentationFormat>
  <Paragraphs>450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Consolas</vt:lpstr>
      <vt:lpstr>OPPOSans R</vt:lpstr>
      <vt:lpstr>OPPOSans H</vt:lpstr>
      <vt:lpstr>Consolas</vt:lpstr>
      <vt:lpstr>仓耳舒圆体 W03</vt:lpstr>
      <vt:lpstr>Yu Gothic UI Semilight</vt:lpstr>
      <vt:lpstr>inherit</vt:lpstr>
      <vt:lpstr>Calibri</vt:lpstr>
      <vt:lpstr>Arial Unicode MS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莫仕明</cp:lastModifiedBy>
  <cp:revision>10</cp:revision>
  <dcterms:created xsi:type="dcterms:W3CDTF">2013-01-27T09:14:00Z</dcterms:created>
  <dcterms:modified xsi:type="dcterms:W3CDTF">2026-05-24T15:18:39Z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EF70B0086A924161A5A9BA05DB7A088B_12</vt:lpwstr>
  </property>
  <property fmtid="{D5CDD505-2E9C-101B-9397-08002B2CF9AE}" pid="3" name="KSOProductBuildVer">
    <vt:lpwstr>2052-12.1.0.20784</vt:lpwstr>
  </property>
</Properties>
</file>